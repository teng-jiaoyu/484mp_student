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370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12294A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12294A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Electrical</a:t>
            </a:r>
            <a:r>
              <a:rPr spc="-70" dirty="0"/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dirty="0"/>
              <a:t>Computer</a:t>
            </a:r>
            <a:r>
              <a:rPr spc="20" dirty="0"/>
              <a:t> </a:t>
            </a:r>
            <a:r>
              <a:rPr dirty="0"/>
              <a:t>Engineering,</a:t>
            </a:r>
            <a:r>
              <a:rPr spc="-65" dirty="0"/>
              <a:t> </a:t>
            </a:r>
            <a:r>
              <a:rPr dirty="0"/>
              <a:t>Center</a:t>
            </a:r>
            <a:r>
              <a:rPr spc="-5" dirty="0"/>
              <a:t> </a:t>
            </a:r>
            <a:r>
              <a:rPr spc="-10" dirty="0"/>
              <a:t>for</a:t>
            </a:r>
            <a:r>
              <a:rPr spc="-80" dirty="0"/>
              <a:t> </a:t>
            </a:r>
            <a:r>
              <a:rPr spc="-10" dirty="0"/>
              <a:t>Autonomy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12294A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12294A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Electrical</a:t>
            </a:r>
            <a:r>
              <a:rPr spc="-70" dirty="0"/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dirty="0"/>
              <a:t>Computer</a:t>
            </a:r>
            <a:r>
              <a:rPr spc="20" dirty="0"/>
              <a:t> </a:t>
            </a:r>
            <a:r>
              <a:rPr dirty="0"/>
              <a:t>Engineering,</a:t>
            </a:r>
            <a:r>
              <a:rPr spc="-65" dirty="0"/>
              <a:t> </a:t>
            </a:r>
            <a:r>
              <a:rPr dirty="0"/>
              <a:t>Center</a:t>
            </a:r>
            <a:r>
              <a:rPr spc="-5" dirty="0"/>
              <a:t> </a:t>
            </a:r>
            <a:r>
              <a:rPr spc="-10" dirty="0"/>
              <a:t>for</a:t>
            </a:r>
            <a:r>
              <a:rPr spc="-80" dirty="0"/>
              <a:t> </a:t>
            </a:r>
            <a:r>
              <a:rPr spc="-10" dirty="0"/>
              <a:t>Autonomy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12294A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Electrical</a:t>
            </a:r>
            <a:r>
              <a:rPr spc="-70" dirty="0"/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dirty="0"/>
              <a:t>Computer</a:t>
            </a:r>
            <a:r>
              <a:rPr spc="20" dirty="0"/>
              <a:t> </a:t>
            </a:r>
            <a:r>
              <a:rPr dirty="0"/>
              <a:t>Engineering,</a:t>
            </a:r>
            <a:r>
              <a:rPr spc="-65" dirty="0"/>
              <a:t> </a:t>
            </a:r>
            <a:r>
              <a:rPr dirty="0"/>
              <a:t>Center</a:t>
            </a:r>
            <a:r>
              <a:rPr spc="-5" dirty="0"/>
              <a:t> </a:t>
            </a:r>
            <a:r>
              <a:rPr spc="-10" dirty="0"/>
              <a:t>for</a:t>
            </a:r>
            <a:r>
              <a:rPr spc="-80" dirty="0"/>
              <a:t> </a:t>
            </a:r>
            <a:r>
              <a:rPr spc="-10" dirty="0"/>
              <a:t>Autonomy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12294A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Electrical</a:t>
            </a:r>
            <a:r>
              <a:rPr spc="-70" dirty="0"/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dirty="0"/>
              <a:t>Computer</a:t>
            </a:r>
            <a:r>
              <a:rPr spc="20" dirty="0"/>
              <a:t> </a:t>
            </a:r>
            <a:r>
              <a:rPr dirty="0"/>
              <a:t>Engineering,</a:t>
            </a:r>
            <a:r>
              <a:rPr spc="-65" dirty="0"/>
              <a:t> </a:t>
            </a:r>
            <a:r>
              <a:rPr dirty="0"/>
              <a:t>Center</a:t>
            </a:r>
            <a:r>
              <a:rPr spc="-5" dirty="0"/>
              <a:t> </a:t>
            </a:r>
            <a:r>
              <a:rPr spc="-10" dirty="0"/>
              <a:t>for</a:t>
            </a:r>
            <a:r>
              <a:rPr spc="-80" dirty="0"/>
              <a:t> </a:t>
            </a:r>
            <a:r>
              <a:rPr spc="-10" dirty="0"/>
              <a:t>Autonomy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Electrical</a:t>
            </a:r>
            <a:r>
              <a:rPr spc="-70" dirty="0"/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dirty="0"/>
              <a:t>Computer</a:t>
            </a:r>
            <a:r>
              <a:rPr spc="20" dirty="0"/>
              <a:t> </a:t>
            </a:r>
            <a:r>
              <a:rPr dirty="0"/>
              <a:t>Engineering,</a:t>
            </a:r>
            <a:r>
              <a:rPr spc="-65" dirty="0"/>
              <a:t> </a:t>
            </a:r>
            <a:r>
              <a:rPr dirty="0"/>
              <a:t>Center</a:t>
            </a:r>
            <a:r>
              <a:rPr spc="-5" dirty="0"/>
              <a:t> </a:t>
            </a:r>
            <a:r>
              <a:rPr spc="-10" dirty="0"/>
              <a:t>for</a:t>
            </a:r>
            <a:r>
              <a:rPr spc="-80" dirty="0"/>
              <a:t> </a:t>
            </a:r>
            <a:r>
              <a:rPr spc="-10" dirty="0"/>
              <a:t>Autonomy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54736" y="277368"/>
            <a:ext cx="97790" cy="1191895"/>
          </a:xfrm>
          <a:custGeom>
            <a:avLst/>
            <a:gdLst/>
            <a:ahLst/>
            <a:cxnLst/>
            <a:rect l="l" t="t" r="r" b="b"/>
            <a:pathLst>
              <a:path w="97790" h="1191895">
                <a:moveTo>
                  <a:pt x="97536" y="0"/>
                </a:moveTo>
                <a:lnTo>
                  <a:pt x="0" y="0"/>
                </a:lnTo>
                <a:lnTo>
                  <a:pt x="0" y="1191767"/>
                </a:lnTo>
                <a:lnTo>
                  <a:pt x="97536" y="1191767"/>
                </a:lnTo>
                <a:lnTo>
                  <a:pt x="97536" y="0"/>
                </a:lnTo>
                <a:close/>
              </a:path>
            </a:pathLst>
          </a:custGeom>
          <a:solidFill>
            <a:srgbClr val="FF5F0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116056" y="277368"/>
            <a:ext cx="515111" cy="74675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6245352"/>
            <a:ext cx="12186285" cy="612775"/>
          </a:xfrm>
          <a:custGeom>
            <a:avLst/>
            <a:gdLst/>
            <a:ahLst/>
            <a:cxnLst/>
            <a:rect l="l" t="t" r="r" b="b"/>
            <a:pathLst>
              <a:path w="12186285" h="612775">
                <a:moveTo>
                  <a:pt x="12185904" y="0"/>
                </a:moveTo>
                <a:lnTo>
                  <a:pt x="0" y="0"/>
                </a:lnTo>
                <a:lnTo>
                  <a:pt x="0" y="612648"/>
                </a:lnTo>
                <a:lnTo>
                  <a:pt x="12185904" y="612648"/>
                </a:lnTo>
                <a:lnTo>
                  <a:pt x="12185904" y="0"/>
                </a:lnTo>
                <a:close/>
              </a:path>
            </a:pathLst>
          </a:custGeom>
          <a:solidFill>
            <a:srgbClr val="1229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3145" y="458216"/>
            <a:ext cx="9713595" cy="6362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12294A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1316" y="1694908"/>
            <a:ext cx="6107430" cy="2244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12294A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35940" y="6440026"/>
            <a:ext cx="3984625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Electrical</a:t>
            </a:r>
            <a:r>
              <a:rPr spc="-70" dirty="0"/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dirty="0"/>
              <a:t>Computer</a:t>
            </a:r>
            <a:r>
              <a:rPr spc="20" dirty="0"/>
              <a:t> </a:t>
            </a:r>
            <a:r>
              <a:rPr dirty="0"/>
              <a:t>Engineering,</a:t>
            </a:r>
            <a:r>
              <a:rPr spc="-65" dirty="0"/>
              <a:t> </a:t>
            </a:r>
            <a:r>
              <a:rPr dirty="0"/>
              <a:t>Center</a:t>
            </a:r>
            <a:r>
              <a:rPr spc="-5" dirty="0"/>
              <a:t> </a:t>
            </a:r>
            <a:r>
              <a:rPr spc="-10" dirty="0"/>
              <a:t>for</a:t>
            </a:r>
            <a:r>
              <a:rPr spc="-80" dirty="0"/>
              <a:t> </a:t>
            </a:r>
            <a:r>
              <a:rPr spc="-10" dirty="0"/>
              <a:t>Autonomy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81766" y="6449170"/>
            <a:ext cx="234315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jpg"/><Relationship Id="rId9" Type="http://schemas.openxmlformats.org/officeDocument/2006/relationships/image" Target="../media/image18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47" y="0"/>
            <a:ext cx="12189460" cy="6858000"/>
            <a:chOff x="3047" y="0"/>
            <a:chExt cx="1218946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7" y="0"/>
              <a:ext cx="12188952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03864" y="277368"/>
              <a:ext cx="530351" cy="765047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553080" y="1460068"/>
            <a:ext cx="7063740" cy="118618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 indent="158115">
              <a:lnSpc>
                <a:spcPts val="4320"/>
              </a:lnSpc>
              <a:spcBef>
                <a:spcPts val="655"/>
              </a:spcBef>
            </a:pPr>
            <a:r>
              <a:rPr sz="4000" b="1" dirty="0">
                <a:solidFill>
                  <a:srgbClr val="FFFFFF"/>
                </a:solidFill>
                <a:latin typeface="Calibri"/>
                <a:cs typeface="Calibri"/>
              </a:rPr>
              <a:t>ECE</a:t>
            </a:r>
            <a:r>
              <a:rPr sz="40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FFFFFF"/>
                </a:solidFill>
                <a:latin typeface="Calibri"/>
                <a:cs typeface="Calibri"/>
              </a:rPr>
              <a:t>484</a:t>
            </a:r>
            <a:r>
              <a:rPr sz="40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4000" b="1" dirty="0">
                <a:solidFill>
                  <a:srgbClr val="FFFFFF"/>
                </a:solidFill>
                <a:latin typeface="Calibri"/>
                <a:cs typeface="Calibri"/>
              </a:rPr>
              <a:t>FA</a:t>
            </a:r>
            <a:r>
              <a:rPr sz="4000" b="1" dirty="0">
                <a:solidFill>
                  <a:srgbClr val="FFFFFF"/>
                </a:solidFill>
                <a:latin typeface="Calibri"/>
                <a:cs typeface="Calibri"/>
              </a:rPr>
              <a:t>26</a:t>
            </a:r>
            <a:r>
              <a:rPr sz="40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FFFFFF"/>
                </a:solidFill>
                <a:latin typeface="Calibri"/>
                <a:cs typeface="Calibri"/>
              </a:rPr>
              <a:t>MP1</a:t>
            </a:r>
            <a:r>
              <a:rPr sz="40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FFFFFF"/>
                </a:solidFill>
                <a:latin typeface="Calibri"/>
                <a:cs typeface="Calibri"/>
              </a:rPr>
              <a:t>Walkthrough </a:t>
            </a:r>
            <a:r>
              <a:rPr sz="4000" b="1" dirty="0">
                <a:solidFill>
                  <a:srgbClr val="FFFFFF"/>
                </a:solidFill>
                <a:latin typeface="Calibri"/>
                <a:cs typeface="Calibri"/>
              </a:rPr>
              <a:t>Deep</a:t>
            </a:r>
            <a:r>
              <a:rPr sz="4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sz="4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4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FFFFFF"/>
                </a:solidFill>
                <a:latin typeface="Calibri"/>
                <a:cs typeface="Calibri"/>
              </a:rPr>
              <a:t>Lane</a:t>
            </a:r>
            <a:r>
              <a:rPr sz="4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FFFFFF"/>
                </a:solidFill>
                <a:latin typeface="Calibri"/>
                <a:cs typeface="Calibri"/>
              </a:rPr>
              <a:t>Detection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06372" y="3144088"/>
            <a:ext cx="8747760" cy="33515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HW1/MP1</a:t>
            </a:r>
            <a:r>
              <a:rPr sz="2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released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FFFFFF"/>
                </a:solidFill>
                <a:latin typeface="Calibri"/>
                <a:cs typeface="Calibri"/>
              </a:rPr>
              <a:t>September 4th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4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due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FFFFFF"/>
                </a:solidFill>
                <a:latin typeface="Calibri"/>
                <a:cs typeface="Calibri"/>
              </a:rPr>
              <a:t>September 25th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40"/>
              </a:spcBef>
            </a:pPr>
            <a:endParaRPr sz="24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lang="en-US" sz="2000" dirty="0" err="1">
                <a:solidFill>
                  <a:srgbClr val="FFFFFF"/>
                </a:solidFill>
                <a:latin typeface="Calibri"/>
                <a:cs typeface="Calibri"/>
              </a:rPr>
              <a:t>Junsheng</a:t>
            </a:r>
            <a:r>
              <a:rPr lang="en-US" sz="2000" dirty="0">
                <a:solidFill>
                  <a:srgbClr val="FFFFFF"/>
                </a:solidFill>
                <a:latin typeface="Calibri"/>
                <a:cs typeface="Calibri"/>
              </a:rPr>
              <a:t> Huang, Hanna Chen, Eric Ji, </a:t>
            </a:r>
            <a:r>
              <a:rPr lang="en-US" sz="2000" dirty="0" err="1">
                <a:solidFill>
                  <a:srgbClr val="FFFFFF"/>
                </a:solidFill>
                <a:latin typeface="Calibri"/>
                <a:cs typeface="Calibri"/>
              </a:rPr>
              <a:t>Taowei</a:t>
            </a:r>
            <a:r>
              <a:rPr lang="en-US" sz="2000" dirty="0">
                <a:solidFill>
                  <a:srgbClr val="FFFFFF"/>
                </a:solidFill>
                <a:latin typeface="Calibri"/>
                <a:cs typeface="Calibri"/>
              </a:rPr>
              <a:t> Huang, Yuxi Chen, Vishesh Prasad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40"/>
              </a:spcBef>
            </a:pPr>
            <a:endParaRPr sz="2000" dirty="0">
              <a:latin typeface="Calibri"/>
              <a:cs typeface="Calibri"/>
            </a:endParaRPr>
          </a:p>
          <a:p>
            <a:pPr marL="13970" algn="ctr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Professor</a:t>
            </a:r>
            <a:r>
              <a:rPr lang="en-US" sz="2400" dirty="0">
                <a:solidFill>
                  <a:srgbClr val="FFFFFF"/>
                </a:solidFill>
                <a:latin typeface="Calibri"/>
                <a:cs typeface="Calibri"/>
              </a:rPr>
              <a:t> Huan Zhang</a:t>
            </a:r>
            <a:endParaRPr sz="2400" dirty="0">
              <a:latin typeface="Calibri"/>
              <a:cs typeface="Calibri"/>
            </a:endParaRPr>
          </a:p>
          <a:p>
            <a:pPr marL="2207260" marR="2188210" indent="-635" algn="ctr">
              <a:lnSpc>
                <a:spcPct val="142100"/>
              </a:lnSpc>
              <a:spcBef>
                <a:spcPts val="1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Electrical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Computer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Engineering University</a:t>
            </a:r>
            <a:r>
              <a:rPr sz="20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Illinois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Urbana-Champaign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72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Brief</a:t>
            </a:r>
            <a:r>
              <a:rPr spc="-80" dirty="0"/>
              <a:t> </a:t>
            </a:r>
            <a:r>
              <a:rPr spc="-10" dirty="0"/>
              <a:t>Overview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Electrical</a:t>
            </a:r>
            <a:r>
              <a:rPr spc="-70" dirty="0"/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dirty="0"/>
              <a:t>Computer</a:t>
            </a:r>
            <a:r>
              <a:rPr spc="20" dirty="0"/>
              <a:t> </a:t>
            </a:r>
            <a:r>
              <a:rPr dirty="0"/>
              <a:t>Engineering,</a:t>
            </a:r>
            <a:r>
              <a:rPr spc="-65" dirty="0"/>
              <a:t> </a:t>
            </a:r>
            <a:r>
              <a:rPr dirty="0"/>
              <a:t>Center</a:t>
            </a:r>
            <a:r>
              <a:rPr spc="-5" dirty="0"/>
              <a:t> </a:t>
            </a:r>
            <a:r>
              <a:rPr spc="-10" dirty="0"/>
              <a:t>for</a:t>
            </a:r>
            <a:r>
              <a:rPr spc="-80" dirty="0"/>
              <a:t> </a:t>
            </a:r>
            <a:r>
              <a:rPr spc="-10" dirty="0"/>
              <a:t>Autonomy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31316" y="1747520"/>
            <a:ext cx="9688195" cy="378841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6870" marR="252729" indent="-344805">
              <a:lnSpc>
                <a:spcPts val="2300"/>
              </a:lnSpc>
              <a:spcBef>
                <a:spcPts val="660"/>
              </a:spcBef>
              <a:buChar char="•"/>
              <a:tabLst>
                <a:tab pos="356870" algn="l"/>
              </a:tabLst>
            </a:pP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Lane</a:t>
            </a:r>
            <a:r>
              <a:rPr sz="2400" spc="-8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Detection</a:t>
            </a:r>
            <a:r>
              <a:rPr sz="2400" spc="-10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Using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Neural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Networks: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Construct</a:t>
            </a:r>
            <a:r>
              <a:rPr sz="2400" spc="-8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</a:t>
            </a:r>
            <a:r>
              <a:rPr sz="2400" spc="-8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neural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network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(Simple</a:t>
            </a:r>
            <a:r>
              <a:rPr sz="24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ENet)</a:t>
            </a:r>
            <a:r>
              <a:rPr sz="24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to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detect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lanes</a:t>
            </a:r>
            <a:r>
              <a:rPr sz="2400" spc="-2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from</a:t>
            </a:r>
            <a:r>
              <a:rPr sz="2400" spc="-7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images.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10"/>
              </a:spcBef>
              <a:buClr>
                <a:srgbClr val="12294A"/>
              </a:buClr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356870" indent="-344170">
              <a:lnSpc>
                <a:spcPts val="2595"/>
              </a:lnSpc>
              <a:buChar char="•"/>
              <a:tabLst>
                <a:tab pos="356870" algn="l"/>
              </a:tabLst>
            </a:pP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Training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Implementation:</a:t>
            </a:r>
            <a:r>
              <a:rPr sz="2400" spc="-1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Load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and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preprocess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data,</a:t>
            </a:r>
            <a:r>
              <a:rPr sz="2400" spc="-8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initialize</a:t>
            </a:r>
            <a:r>
              <a:rPr sz="2400" spc="-2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endParaRPr sz="2400">
              <a:latin typeface="Arial MT"/>
              <a:cs typeface="Arial MT"/>
            </a:endParaRPr>
          </a:p>
          <a:p>
            <a:pPr marL="356870">
              <a:lnSpc>
                <a:spcPts val="2595"/>
              </a:lnSpc>
            </a:pP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optimizer,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train</a:t>
            </a:r>
            <a:r>
              <a:rPr sz="2400" spc="-8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and</a:t>
            </a:r>
            <a:r>
              <a:rPr sz="2400" spc="-8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validate</a:t>
            </a:r>
            <a:r>
              <a:rPr sz="24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400" spc="-7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model.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2400">
              <a:latin typeface="Arial MT"/>
              <a:cs typeface="Arial MT"/>
            </a:endParaRPr>
          </a:p>
          <a:p>
            <a:pPr marL="356870" indent="-344170">
              <a:lnSpc>
                <a:spcPts val="2595"/>
              </a:lnSpc>
              <a:buChar char="•"/>
              <a:tabLst>
                <a:tab pos="356870" algn="l"/>
              </a:tabLst>
            </a:pP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Perspective</a:t>
            </a:r>
            <a:r>
              <a:rPr sz="2400" spc="-8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Transformation:</a:t>
            </a:r>
            <a:r>
              <a:rPr sz="2400" spc="-1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Convert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detected</a:t>
            </a:r>
            <a:r>
              <a:rPr sz="2400" spc="-8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lanes</a:t>
            </a:r>
            <a:r>
              <a:rPr sz="24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from</a:t>
            </a:r>
            <a:r>
              <a:rPr sz="2400" spc="-7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400" spc="-8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camera</a:t>
            </a:r>
            <a:endParaRPr sz="2400">
              <a:latin typeface="Arial MT"/>
              <a:cs typeface="Arial MT"/>
            </a:endParaRPr>
          </a:p>
          <a:p>
            <a:pPr marL="356870">
              <a:lnSpc>
                <a:spcPts val="2595"/>
              </a:lnSpc>
            </a:pP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view to</a:t>
            </a:r>
            <a:r>
              <a:rPr sz="24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</a:t>
            </a:r>
            <a:r>
              <a:rPr sz="2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12294A"/>
                </a:solidFill>
                <a:latin typeface="Arial MT"/>
                <a:cs typeface="Arial MT"/>
              </a:rPr>
              <a:t>bird’s-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eye</a:t>
            </a:r>
            <a:r>
              <a:rPr sz="2400" spc="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view for</a:t>
            </a:r>
            <a:r>
              <a:rPr sz="24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better</a:t>
            </a:r>
            <a:r>
              <a:rPr sz="2400" spc="-7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visualization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24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spcBef>
                <a:spcPts val="5"/>
              </a:spcBef>
              <a:buChar char="•"/>
              <a:tabLst>
                <a:tab pos="356870" algn="l"/>
              </a:tabLst>
            </a:pP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Error</a:t>
            </a:r>
            <a:r>
              <a:rPr sz="2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Metrics:</a:t>
            </a:r>
            <a:r>
              <a:rPr sz="2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Calculated</a:t>
            </a:r>
            <a:r>
              <a:rPr sz="2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12294A"/>
                </a:solidFill>
                <a:latin typeface="Arial MT"/>
                <a:cs typeface="Arial MT"/>
              </a:rPr>
              <a:t>cross-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track</a:t>
            </a:r>
            <a:r>
              <a:rPr sz="24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and</a:t>
            </a:r>
            <a:r>
              <a:rPr sz="24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12294A"/>
                </a:solidFill>
                <a:latin typeface="Arial MT"/>
                <a:cs typeface="Arial MT"/>
              </a:rPr>
              <a:t>heading</a:t>
            </a:r>
            <a:r>
              <a:rPr sz="2400" spc="-8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12294A"/>
                </a:solidFill>
                <a:latin typeface="Arial MT"/>
                <a:cs typeface="Arial MT"/>
              </a:rPr>
              <a:t>error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/>
              <a:t>Gazebo</a:t>
            </a:r>
            <a:r>
              <a:rPr sz="4000" spc="-40" dirty="0"/>
              <a:t> </a:t>
            </a:r>
            <a:r>
              <a:rPr sz="4000" dirty="0"/>
              <a:t>– </a:t>
            </a:r>
            <a:r>
              <a:rPr sz="4000" spc="-10" dirty="0"/>
              <a:t>Open-</a:t>
            </a:r>
            <a:r>
              <a:rPr sz="4000" dirty="0"/>
              <a:t>source</a:t>
            </a:r>
            <a:r>
              <a:rPr sz="4000" spc="-15" dirty="0"/>
              <a:t> </a:t>
            </a:r>
            <a:r>
              <a:rPr sz="4000" dirty="0"/>
              <a:t>Robotics</a:t>
            </a:r>
            <a:r>
              <a:rPr sz="4000" spc="-85" dirty="0"/>
              <a:t> </a:t>
            </a:r>
            <a:r>
              <a:rPr sz="4000" spc="-10" dirty="0"/>
              <a:t>Simulator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31316" y="2868549"/>
            <a:ext cx="3266440" cy="12439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solidFill>
                  <a:srgbClr val="374151"/>
                </a:solidFill>
                <a:latin typeface="Arial MT"/>
                <a:cs typeface="Arial MT"/>
              </a:rPr>
              <a:t>Simulates</a:t>
            </a:r>
            <a:r>
              <a:rPr sz="2000" spc="-100" dirty="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74151"/>
                </a:solidFill>
                <a:latin typeface="Arial MT"/>
                <a:cs typeface="Arial MT"/>
              </a:rPr>
              <a:t>physics</a:t>
            </a:r>
            <a:r>
              <a:rPr sz="2000" spc="-60" dirty="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374151"/>
                </a:solidFill>
                <a:latin typeface="Arial MT"/>
                <a:cs typeface="Arial MT"/>
              </a:rPr>
              <a:t>(like gravity,</a:t>
            </a:r>
            <a:r>
              <a:rPr sz="2000" spc="-5" dirty="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74151"/>
                </a:solidFill>
                <a:latin typeface="Arial MT"/>
                <a:cs typeface="Arial MT"/>
              </a:rPr>
              <a:t>friction,</a:t>
            </a:r>
            <a:r>
              <a:rPr sz="2000" spc="-75" dirty="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74151"/>
                </a:solidFill>
                <a:latin typeface="Arial MT"/>
                <a:cs typeface="Arial MT"/>
              </a:rPr>
              <a:t>etc.)</a:t>
            </a:r>
            <a:r>
              <a:rPr sz="2000" spc="-100" dirty="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374151"/>
                </a:solidFill>
                <a:latin typeface="Arial MT"/>
                <a:cs typeface="Arial MT"/>
              </a:rPr>
              <a:t>and </a:t>
            </a:r>
            <a:r>
              <a:rPr sz="2000" dirty="0">
                <a:solidFill>
                  <a:srgbClr val="374151"/>
                </a:solidFill>
                <a:latin typeface="Arial MT"/>
                <a:cs typeface="Arial MT"/>
              </a:rPr>
              <a:t>environment</a:t>
            </a:r>
            <a:r>
              <a:rPr sz="2000" spc="-55" dirty="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74151"/>
                </a:solidFill>
                <a:latin typeface="Arial MT"/>
                <a:cs typeface="Arial MT"/>
              </a:rPr>
              <a:t>in</a:t>
            </a:r>
            <a:r>
              <a:rPr sz="2000" spc="-55" dirty="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74151"/>
                </a:solidFill>
                <a:latin typeface="Arial MT"/>
                <a:cs typeface="Arial MT"/>
              </a:rPr>
              <a:t>which</a:t>
            </a:r>
            <a:r>
              <a:rPr sz="2000" spc="-10" dirty="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374151"/>
                </a:solidFill>
                <a:latin typeface="Arial MT"/>
                <a:cs typeface="Arial MT"/>
              </a:rPr>
              <a:t>a</a:t>
            </a:r>
            <a:r>
              <a:rPr sz="2000" spc="-65" dirty="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374151"/>
                </a:solidFill>
                <a:latin typeface="Arial MT"/>
                <a:cs typeface="Arial MT"/>
              </a:rPr>
              <a:t>robot </a:t>
            </a:r>
            <a:r>
              <a:rPr sz="2000" spc="-10" dirty="0">
                <a:solidFill>
                  <a:srgbClr val="374151"/>
                </a:solidFill>
                <a:latin typeface="Arial MT"/>
                <a:cs typeface="Arial MT"/>
              </a:rPr>
              <a:t>operates.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 descr="A computer screen shot of a car on the road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56759" y="1621536"/>
            <a:ext cx="6982968" cy="413613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Electrical</a:t>
            </a:r>
            <a:r>
              <a:rPr spc="-70" dirty="0"/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dirty="0"/>
              <a:t>Computer</a:t>
            </a:r>
            <a:r>
              <a:rPr spc="20" dirty="0"/>
              <a:t> </a:t>
            </a:r>
            <a:r>
              <a:rPr dirty="0"/>
              <a:t>Engineering,</a:t>
            </a:r>
            <a:r>
              <a:rPr spc="-65" dirty="0"/>
              <a:t> </a:t>
            </a:r>
            <a:r>
              <a:rPr dirty="0"/>
              <a:t>Center</a:t>
            </a:r>
            <a:r>
              <a:rPr spc="-5" dirty="0"/>
              <a:t> </a:t>
            </a:r>
            <a:r>
              <a:rPr spc="-10" dirty="0"/>
              <a:t>for</a:t>
            </a:r>
            <a:r>
              <a:rPr spc="-80" dirty="0"/>
              <a:t> </a:t>
            </a:r>
            <a:r>
              <a:rPr spc="-10" dirty="0"/>
              <a:t>Autonomy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/>
              <a:t>RVIZ</a:t>
            </a:r>
            <a:r>
              <a:rPr sz="4000" spc="-40" dirty="0"/>
              <a:t> </a:t>
            </a:r>
            <a:r>
              <a:rPr sz="4000" dirty="0"/>
              <a:t>–</a:t>
            </a:r>
            <a:r>
              <a:rPr sz="4000" spc="-30" dirty="0"/>
              <a:t> </a:t>
            </a:r>
            <a:r>
              <a:rPr sz="4000" dirty="0"/>
              <a:t>ROS</a:t>
            </a:r>
            <a:r>
              <a:rPr sz="4000" spc="-60" dirty="0"/>
              <a:t> </a:t>
            </a:r>
            <a:r>
              <a:rPr sz="4000" spc="-10" dirty="0"/>
              <a:t>visualizer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31316" y="2314447"/>
            <a:ext cx="3681095" cy="36394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100"/>
              </a:spcBef>
              <a:buChar char="•"/>
              <a:tabLst>
                <a:tab pos="356870" algn="l"/>
              </a:tabLst>
            </a:pPr>
            <a:r>
              <a:rPr sz="1800" dirty="0">
                <a:solidFill>
                  <a:srgbClr val="374151"/>
                </a:solidFill>
                <a:latin typeface="Arial MT"/>
                <a:cs typeface="Arial MT"/>
              </a:rPr>
              <a:t>Visualizes</a:t>
            </a:r>
            <a:r>
              <a:rPr sz="1800" spc="-55" dirty="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74151"/>
                </a:solidFill>
                <a:latin typeface="Arial MT"/>
                <a:cs typeface="Arial MT"/>
              </a:rPr>
              <a:t>data,</a:t>
            </a:r>
            <a:r>
              <a:rPr sz="1800" spc="-35" dirty="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74151"/>
                </a:solidFill>
                <a:latin typeface="Arial MT"/>
                <a:cs typeface="Arial MT"/>
              </a:rPr>
              <a:t>including</a:t>
            </a:r>
            <a:r>
              <a:rPr sz="1800" spc="-55" dirty="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Arial MT"/>
                <a:cs typeface="Arial MT"/>
              </a:rPr>
              <a:t>sensor </a:t>
            </a:r>
            <a:r>
              <a:rPr sz="1800" dirty="0">
                <a:solidFill>
                  <a:srgbClr val="374151"/>
                </a:solidFill>
                <a:latin typeface="Arial MT"/>
                <a:cs typeface="Arial MT"/>
              </a:rPr>
              <a:t>data,</a:t>
            </a:r>
            <a:r>
              <a:rPr sz="1800" spc="-15" dirty="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74151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74151"/>
                </a:solidFill>
                <a:latin typeface="Arial MT"/>
                <a:cs typeface="Arial MT"/>
              </a:rPr>
              <a:t>state</a:t>
            </a:r>
            <a:r>
              <a:rPr sz="1800" spc="-40" dirty="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74151"/>
                </a:solidFill>
                <a:latin typeface="Arial MT"/>
                <a:cs typeface="Arial MT"/>
              </a:rPr>
              <a:t>of</a:t>
            </a:r>
            <a:r>
              <a:rPr sz="1800" spc="-15" dirty="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74151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74151"/>
                </a:solidFill>
                <a:latin typeface="Arial MT"/>
                <a:cs typeface="Arial MT"/>
              </a:rPr>
              <a:t>robot,</a:t>
            </a:r>
            <a:r>
              <a:rPr sz="1800" spc="-5" dirty="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374151"/>
                </a:solidFill>
                <a:latin typeface="Arial MT"/>
                <a:cs typeface="Arial MT"/>
              </a:rPr>
              <a:t>and </a:t>
            </a:r>
            <a:r>
              <a:rPr sz="1800" dirty="0">
                <a:solidFill>
                  <a:srgbClr val="374151"/>
                </a:solidFill>
                <a:latin typeface="Arial MT"/>
                <a:cs typeface="Arial MT"/>
              </a:rPr>
              <a:t>planned</a:t>
            </a:r>
            <a:r>
              <a:rPr sz="1800" spc="-40" dirty="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Arial MT"/>
                <a:cs typeface="Arial MT"/>
              </a:rPr>
              <a:t>actions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Clr>
                <a:srgbClr val="374151"/>
              </a:buClr>
              <a:buFont typeface="Arial MT"/>
              <a:buChar char="•"/>
            </a:pPr>
            <a:endParaRPr sz="1800" dirty="0">
              <a:latin typeface="Arial MT"/>
              <a:cs typeface="Arial MT"/>
            </a:endParaRPr>
          </a:p>
          <a:p>
            <a:pPr marL="344170" marR="142240" indent="-344170" algn="ctr">
              <a:lnSpc>
                <a:spcPct val="100000"/>
              </a:lnSpc>
              <a:buChar char="•"/>
              <a:tabLst>
                <a:tab pos="344170" algn="l"/>
              </a:tabLst>
            </a:pPr>
            <a:r>
              <a:rPr sz="1800" dirty="0">
                <a:solidFill>
                  <a:srgbClr val="374151"/>
                </a:solidFill>
                <a:latin typeface="Arial MT"/>
                <a:cs typeface="Arial MT"/>
              </a:rPr>
              <a:t>Subscribe</a:t>
            </a:r>
            <a:r>
              <a:rPr sz="1800" spc="-80" dirty="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74151"/>
                </a:solidFill>
                <a:latin typeface="Arial MT"/>
                <a:cs typeface="Arial MT"/>
              </a:rPr>
              <a:t>to</a:t>
            </a:r>
            <a:r>
              <a:rPr sz="1800" spc="5" dirty="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74151"/>
                </a:solidFill>
                <a:latin typeface="Arial MT"/>
                <a:cs typeface="Arial MT"/>
              </a:rPr>
              <a:t>and</a:t>
            </a:r>
            <a:r>
              <a:rPr sz="1800" spc="-45" dirty="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74151"/>
                </a:solidFill>
                <a:latin typeface="Arial MT"/>
                <a:cs typeface="Arial MT"/>
              </a:rPr>
              <a:t>visualize</a:t>
            </a:r>
            <a:r>
              <a:rPr sz="1800" spc="-20" dirty="0">
                <a:solidFill>
                  <a:srgbClr val="374151"/>
                </a:solidFill>
                <a:latin typeface="Arial MT"/>
                <a:cs typeface="Arial MT"/>
              </a:rPr>
              <a:t> data</a:t>
            </a:r>
            <a:endParaRPr sz="1800" dirty="0">
              <a:latin typeface="Arial MT"/>
              <a:cs typeface="Arial MT"/>
            </a:endParaRPr>
          </a:p>
          <a:p>
            <a:pPr marR="81915" algn="ctr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374151"/>
                </a:solidFill>
                <a:latin typeface="Arial MT"/>
                <a:cs typeface="Arial MT"/>
              </a:rPr>
              <a:t>from</a:t>
            </a:r>
            <a:r>
              <a:rPr sz="1800" spc="-15" dirty="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74151"/>
                </a:solidFill>
                <a:latin typeface="Arial MT"/>
                <a:cs typeface="Arial MT"/>
              </a:rPr>
              <a:t>ROS topics</a:t>
            </a:r>
            <a:r>
              <a:rPr sz="1800" spc="-35" dirty="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74151"/>
                </a:solidFill>
                <a:latin typeface="Arial MT"/>
                <a:cs typeface="Arial MT"/>
              </a:rPr>
              <a:t>in real-</a:t>
            </a:r>
            <a:r>
              <a:rPr sz="1800" spc="-20" dirty="0">
                <a:solidFill>
                  <a:srgbClr val="374151"/>
                </a:solidFill>
                <a:latin typeface="Arial MT"/>
                <a:cs typeface="Arial MT"/>
              </a:rPr>
              <a:t>time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 dirty="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buChar char="•"/>
              <a:tabLst>
                <a:tab pos="356870" algn="l"/>
              </a:tabLst>
            </a:pPr>
            <a:r>
              <a:rPr sz="1800" dirty="0">
                <a:solidFill>
                  <a:srgbClr val="374151"/>
                </a:solidFill>
                <a:latin typeface="Arial MT"/>
                <a:cs typeface="Arial MT"/>
              </a:rPr>
              <a:t>No</a:t>
            </a:r>
            <a:r>
              <a:rPr sz="1800" spc="10" dirty="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74151"/>
                </a:solidFill>
                <a:latin typeface="Arial MT"/>
                <a:cs typeface="Arial MT"/>
              </a:rPr>
              <a:t>physics</a:t>
            </a:r>
            <a:r>
              <a:rPr sz="1800" spc="-30" dirty="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Arial MT"/>
                <a:cs typeface="Arial MT"/>
              </a:rPr>
              <a:t>engine</a:t>
            </a:r>
            <a:endParaRPr lang="en-US" sz="1800" spc="-10" dirty="0">
              <a:solidFill>
                <a:srgbClr val="374151"/>
              </a:solidFill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buChar char="•"/>
              <a:tabLst>
                <a:tab pos="356870" algn="l"/>
              </a:tabLst>
            </a:pPr>
            <a:endParaRPr lang="en-US" spc="-10" dirty="0">
              <a:solidFill>
                <a:srgbClr val="374151"/>
              </a:solidFill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buChar char="•"/>
              <a:tabLst>
                <a:tab pos="356870" algn="l"/>
              </a:tabLst>
            </a:pPr>
            <a:r>
              <a:rPr lang="en-US" sz="1800" spc="-10" dirty="0">
                <a:solidFill>
                  <a:srgbClr val="374151"/>
                </a:solidFill>
                <a:latin typeface="Arial MT"/>
                <a:cs typeface="Arial MT"/>
              </a:rPr>
              <a:t>Note: If you SSH into 5072 machines, set your ROS_DOMAIN_ID to your group number to avoid confusion</a:t>
            </a:r>
            <a:endParaRPr sz="1800" dirty="0">
              <a:latin typeface="Arial MT"/>
              <a:cs typeface="Arial MT"/>
            </a:endParaRPr>
          </a:p>
        </p:txBody>
      </p:sp>
      <p:pic>
        <p:nvPicPr>
          <p:cNvPr id="4" name="object 4" descr="A computer screen shot of a car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35423" y="1469136"/>
            <a:ext cx="7177264" cy="427290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Electrical</a:t>
            </a:r>
            <a:r>
              <a:rPr spc="-70" dirty="0"/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dirty="0"/>
              <a:t>Computer</a:t>
            </a:r>
            <a:r>
              <a:rPr spc="20" dirty="0"/>
              <a:t> </a:t>
            </a:r>
            <a:r>
              <a:rPr dirty="0"/>
              <a:t>Engineering,</a:t>
            </a:r>
            <a:r>
              <a:rPr spc="-65" dirty="0"/>
              <a:t> </a:t>
            </a:r>
            <a:r>
              <a:rPr dirty="0"/>
              <a:t>Center</a:t>
            </a:r>
            <a:r>
              <a:rPr spc="-5" dirty="0"/>
              <a:t> </a:t>
            </a:r>
            <a:r>
              <a:rPr spc="-10" dirty="0"/>
              <a:t>for</a:t>
            </a:r>
            <a:r>
              <a:rPr spc="-80" dirty="0"/>
              <a:t> </a:t>
            </a:r>
            <a:r>
              <a:rPr spc="-10" dirty="0"/>
              <a:t>Autonomy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72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System</a:t>
            </a:r>
            <a:r>
              <a:rPr spc="-110" dirty="0"/>
              <a:t> </a:t>
            </a:r>
            <a:r>
              <a:rPr spc="-10" dirty="0"/>
              <a:t>Overview</a:t>
            </a:r>
          </a:p>
        </p:txBody>
      </p:sp>
      <p:pic>
        <p:nvPicPr>
          <p:cNvPr id="3" name="object 3" descr="A diagram of a diagram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488" y="2008632"/>
            <a:ext cx="11990832" cy="32004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Electrical</a:t>
            </a:r>
            <a:r>
              <a:rPr spc="-70" dirty="0"/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dirty="0"/>
              <a:t>Computer</a:t>
            </a:r>
            <a:r>
              <a:rPr spc="20" dirty="0"/>
              <a:t> </a:t>
            </a:r>
            <a:r>
              <a:rPr dirty="0"/>
              <a:t>Engineering,</a:t>
            </a:r>
            <a:r>
              <a:rPr spc="-65" dirty="0"/>
              <a:t> </a:t>
            </a:r>
            <a:r>
              <a:rPr dirty="0"/>
              <a:t>Center</a:t>
            </a:r>
            <a:r>
              <a:rPr spc="-5" dirty="0"/>
              <a:t> </a:t>
            </a:r>
            <a:r>
              <a:rPr spc="-10" dirty="0"/>
              <a:t>for</a:t>
            </a:r>
            <a:r>
              <a:rPr spc="-80" dirty="0"/>
              <a:t> </a:t>
            </a:r>
            <a:r>
              <a:rPr spc="-10" dirty="0"/>
              <a:t>Autonomy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3145" y="540512"/>
            <a:ext cx="1062990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70" dirty="0"/>
              <a:t>Tasks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Electrical</a:t>
            </a:r>
            <a:r>
              <a:rPr spc="-70" dirty="0"/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dirty="0"/>
              <a:t>Computer</a:t>
            </a:r>
            <a:r>
              <a:rPr spc="20" dirty="0"/>
              <a:t> </a:t>
            </a:r>
            <a:r>
              <a:rPr dirty="0"/>
              <a:t>Engineering,</a:t>
            </a:r>
            <a:r>
              <a:rPr spc="-65" dirty="0"/>
              <a:t> </a:t>
            </a:r>
            <a:r>
              <a:rPr dirty="0"/>
              <a:t>Center</a:t>
            </a:r>
            <a:r>
              <a:rPr spc="-5" dirty="0"/>
              <a:t> </a:t>
            </a:r>
            <a:r>
              <a:rPr spc="-10" dirty="0"/>
              <a:t>for</a:t>
            </a:r>
            <a:r>
              <a:rPr spc="-80" dirty="0"/>
              <a:t> </a:t>
            </a:r>
            <a:r>
              <a:rPr spc="-10" dirty="0"/>
              <a:t>Autonomy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31316" y="2052015"/>
            <a:ext cx="5819775" cy="35553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10"/>
              </a:spcBef>
              <a:buAutoNum type="arabicPeriod"/>
              <a:tabLst>
                <a:tab pos="469900" algn="l"/>
              </a:tabLst>
            </a:pP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Preparing</a:t>
            </a:r>
            <a:r>
              <a:rPr sz="2200" spc="-6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2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12294A"/>
                </a:solidFill>
                <a:latin typeface="Arial MT"/>
                <a:cs typeface="Arial MT"/>
              </a:rPr>
              <a:t>Dataset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20"/>
              </a:spcBef>
              <a:buClr>
                <a:srgbClr val="12294A"/>
              </a:buClr>
              <a:buFont typeface="Arial MT"/>
              <a:buAutoNum type="arabicPeriod"/>
            </a:pPr>
            <a:endParaRPr sz="220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Build</a:t>
            </a:r>
            <a:r>
              <a:rPr sz="22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Simple</a:t>
            </a:r>
            <a:r>
              <a:rPr sz="22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12294A"/>
                </a:solidFill>
                <a:latin typeface="Arial MT"/>
                <a:cs typeface="Arial MT"/>
              </a:rPr>
              <a:t>ENet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95"/>
              </a:spcBef>
              <a:buClr>
                <a:srgbClr val="12294A"/>
              </a:buClr>
              <a:buFont typeface="Arial MT"/>
              <a:buAutoNum type="arabicPeriod"/>
            </a:pPr>
            <a:endParaRPr sz="220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69900" algn="l"/>
              </a:tabLst>
            </a:pP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Writing</a:t>
            </a:r>
            <a:r>
              <a:rPr sz="2200" spc="-12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200" spc="-9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Training</a:t>
            </a:r>
            <a:r>
              <a:rPr sz="22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12294A"/>
                </a:solidFill>
                <a:latin typeface="Arial MT"/>
                <a:cs typeface="Arial MT"/>
              </a:rPr>
              <a:t>Loop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20"/>
              </a:spcBef>
              <a:buClr>
                <a:srgbClr val="12294A"/>
              </a:buClr>
              <a:buFont typeface="Arial MT"/>
              <a:buAutoNum type="arabicPeriod"/>
            </a:pPr>
            <a:endParaRPr sz="220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Performing</a:t>
            </a:r>
            <a:r>
              <a:rPr sz="2200" spc="-9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Perspective</a:t>
            </a:r>
            <a:r>
              <a:rPr sz="22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12294A"/>
                </a:solidFill>
                <a:latin typeface="Arial MT"/>
                <a:cs typeface="Arial MT"/>
              </a:rPr>
              <a:t>Transformation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20"/>
              </a:spcBef>
              <a:buClr>
                <a:srgbClr val="12294A"/>
              </a:buClr>
              <a:buFont typeface="Arial MT"/>
              <a:buAutoNum type="arabicPeriod"/>
            </a:pPr>
            <a:endParaRPr sz="220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sz="2200" spc="-10" dirty="0">
                <a:solidFill>
                  <a:srgbClr val="12294A"/>
                </a:solidFill>
                <a:latin typeface="Arial MT"/>
                <a:cs typeface="Arial MT"/>
              </a:rPr>
              <a:t>Cross-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Track</a:t>
            </a:r>
            <a:r>
              <a:rPr sz="2200" spc="-10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and</a:t>
            </a:r>
            <a:r>
              <a:rPr sz="22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Heading</a:t>
            </a:r>
            <a:r>
              <a:rPr sz="22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Error</a:t>
            </a:r>
            <a:r>
              <a:rPr sz="22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12294A"/>
                </a:solidFill>
                <a:latin typeface="Arial MT"/>
                <a:cs typeface="Arial MT"/>
              </a:rPr>
              <a:t>Calculation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72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Dataset</a:t>
            </a:r>
            <a:r>
              <a:rPr spc="-110" dirty="0"/>
              <a:t> </a:t>
            </a:r>
            <a:r>
              <a:rPr spc="-10" dirty="0"/>
              <a:t>Preparation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1316" y="1694908"/>
            <a:ext cx="9029065" cy="829944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865"/>
              </a:spcBef>
              <a:buChar char="•"/>
              <a:tabLst>
                <a:tab pos="356870" algn="l"/>
              </a:tabLst>
            </a:pP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Use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600" b="1" i="1" dirty="0">
                <a:solidFill>
                  <a:srgbClr val="12294A"/>
                </a:solidFill>
                <a:latin typeface="Consolas"/>
                <a:cs typeface="Consolas"/>
              </a:rPr>
              <a:t>drive.py</a:t>
            </a:r>
            <a:r>
              <a:rPr sz="1600" b="1" i="1" spc="-170" dirty="0">
                <a:solidFill>
                  <a:srgbClr val="12294A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to</a:t>
            </a:r>
            <a:r>
              <a:rPr sz="20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drive</a:t>
            </a:r>
            <a:r>
              <a:rPr sz="20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0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vehicle</a:t>
            </a:r>
            <a:r>
              <a:rPr sz="2000" spc="1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with</a:t>
            </a:r>
            <a:r>
              <a:rPr sz="20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WASD</a:t>
            </a:r>
            <a:r>
              <a:rPr sz="2000" spc="-9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as</a:t>
            </a:r>
            <a:r>
              <a:rPr sz="20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well</a:t>
            </a:r>
            <a:r>
              <a:rPr sz="2000" spc="2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as</a:t>
            </a:r>
            <a:r>
              <a:rPr sz="20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save</a:t>
            </a:r>
            <a:r>
              <a:rPr sz="20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0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training</a:t>
            </a:r>
            <a:r>
              <a:rPr sz="2000" spc="-1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12294A"/>
                </a:solidFill>
                <a:latin typeface="Arial MT"/>
                <a:cs typeface="Arial MT"/>
              </a:rPr>
              <a:t>data</a:t>
            </a:r>
            <a:endParaRPr sz="20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spcBef>
                <a:spcPts val="770"/>
              </a:spcBef>
              <a:buChar char="•"/>
              <a:tabLst>
                <a:tab pos="356870" algn="l"/>
              </a:tabLst>
            </a:pP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Use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600" b="1" i="1" dirty="0">
                <a:solidFill>
                  <a:srgbClr val="12294A"/>
                </a:solidFill>
                <a:latin typeface="Consolas"/>
                <a:cs typeface="Consolas"/>
              </a:rPr>
              <a:t>preprocess.py</a:t>
            </a:r>
            <a:r>
              <a:rPr sz="1600" b="1" i="1" spc="-145" dirty="0">
                <a:solidFill>
                  <a:srgbClr val="12294A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to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generate</a:t>
            </a:r>
            <a:r>
              <a:rPr sz="2000" spc="-1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20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label</a:t>
            </a:r>
            <a:r>
              <a:rPr sz="2000" spc="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for</a:t>
            </a:r>
            <a:r>
              <a:rPr sz="2000" spc="-9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each</a:t>
            </a:r>
            <a:r>
              <a:rPr sz="20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image</a:t>
            </a:r>
            <a:r>
              <a:rPr sz="20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2294A"/>
                </a:solidFill>
                <a:latin typeface="Arial MT"/>
                <a:cs typeface="Arial MT"/>
              </a:rPr>
              <a:t>you</a:t>
            </a:r>
            <a:r>
              <a:rPr sz="2000" spc="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12294A"/>
                </a:solidFill>
                <a:latin typeface="Arial MT"/>
                <a:cs typeface="Arial MT"/>
              </a:rPr>
              <a:t>capture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66033" y="5842203"/>
            <a:ext cx="11728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Raw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image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25231" y="5835497"/>
            <a:ext cx="1513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Masked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image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868423" y="3054095"/>
            <a:ext cx="8540750" cy="2700655"/>
            <a:chOff x="1868423" y="3054095"/>
            <a:chExt cx="8540750" cy="2700655"/>
          </a:xfrm>
        </p:grpSpPr>
        <p:pic>
          <p:nvPicPr>
            <p:cNvPr id="7" name="object 7" descr="The image depicts a long, empty, straight road stretching into the distance, illuminated by headlights or streetlights, with the black sky overhead.  AI-generated content may be incorrect.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12279" y="3054095"/>
              <a:ext cx="3596639" cy="2700528"/>
            </a:xfrm>
            <a:prstGeom prst="rect">
              <a:avLst/>
            </a:prstGeom>
          </p:spPr>
        </p:pic>
        <p:pic>
          <p:nvPicPr>
            <p:cNvPr id="8" name="object 8" descr="The image depicts a long, straight, black-and-white road stretching into a clear blue sky under a partly cloudy sky.  AI-generated content may be incorrect.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8423" y="3054095"/>
              <a:ext cx="3599688" cy="270052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468111" y="4366259"/>
              <a:ext cx="1344295" cy="76200"/>
            </a:xfrm>
            <a:custGeom>
              <a:avLst/>
              <a:gdLst/>
              <a:ahLst/>
              <a:cxnLst/>
              <a:rect l="l" t="t" r="r" b="b"/>
              <a:pathLst>
                <a:path w="1344295" h="76200">
                  <a:moveTo>
                    <a:pt x="1267967" y="0"/>
                  </a:moveTo>
                  <a:lnTo>
                    <a:pt x="1267967" y="76200"/>
                  </a:lnTo>
                  <a:lnTo>
                    <a:pt x="1331467" y="44450"/>
                  </a:lnTo>
                  <a:lnTo>
                    <a:pt x="1280667" y="44450"/>
                  </a:lnTo>
                  <a:lnTo>
                    <a:pt x="1280667" y="31750"/>
                  </a:lnTo>
                  <a:lnTo>
                    <a:pt x="1331467" y="31750"/>
                  </a:lnTo>
                  <a:lnTo>
                    <a:pt x="1267967" y="0"/>
                  </a:lnTo>
                  <a:close/>
                </a:path>
                <a:path w="1344295" h="76200">
                  <a:moveTo>
                    <a:pt x="1267967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1267967" y="44450"/>
                  </a:lnTo>
                  <a:lnTo>
                    <a:pt x="1267967" y="31750"/>
                  </a:lnTo>
                  <a:close/>
                </a:path>
                <a:path w="1344295" h="76200">
                  <a:moveTo>
                    <a:pt x="1331467" y="31750"/>
                  </a:moveTo>
                  <a:lnTo>
                    <a:pt x="1280667" y="31750"/>
                  </a:lnTo>
                  <a:lnTo>
                    <a:pt x="1280667" y="44450"/>
                  </a:lnTo>
                  <a:lnTo>
                    <a:pt x="1331467" y="44450"/>
                  </a:lnTo>
                  <a:lnTo>
                    <a:pt x="1344167" y="38100"/>
                  </a:lnTo>
                  <a:lnTo>
                    <a:pt x="1331467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Electrical</a:t>
            </a:r>
            <a:r>
              <a:rPr spc="-70" dirty="0"/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dirty="0"/>
              <a:t>Computer</a:t>
            </a:r>
            <a:r>
              <a:rPr spc="20" dirty="0"/>
              <a:t> </a:t>
            </a:r>
            <a:r>
              <a:rPr dirty="0"/>
              <a:t>Engineering,</a:t>
            </a:r>
            <a:r>
              <a:rPr spc="-65" dirty="0"/>
              <a:t> </a:t>
            </a:r>
            <a:r>
              <a:rPr dirty="0"/>
              <a:t>Center</a:t>
            </a:r>
            <a:r>
              <a:rPr spc="-5" dirty="0"/>
              <a:t> </a:t>
            </a:r>
            <a:r>
              <a:rPr spc="-10" dirty="0"/>
              <a:t>for</a:t>
            </a:r>
            <a:r>
              <a:rPr spc="-80" dirty="0"/>
              <a:t> </a:t>
            </a:r>
            <a:r>
              <a:rPr spc="-10" dirty="0"/>
              <a:t>Autonomy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72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Build</a:t>
            </a:r>
            <a:r>
              <a:rPr spc="-75" dirty="0"/>
              <a:t> </a:t>
            </a:r>
            <a:r>
              <a:rPr sz="2800" b="1" spc="-10" dirty="0">
                <a:latin typeface="Consolas"/>
                <a:cs typeface="Consolas"/>
              </a:rPr>
              <a:t>InitialBlock</a:t>
            </a:r>
            <a:r>
              <a:rPr sz="2800" b="1" spc="-635" dirty="0">
                <a:latin typeface="Consolas"/>
                <a:cs typeface="Consolas"/>
              </a:rPr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Simple</a:t>
            </a:r>
            <a:r>
              <a:rPr spc="-50" dirty="0"/>
              <a:t> </a:t>
            </a:r>
            <a:r>
              <a:rPr spc="-20" dirty="0"/>
              <a:t>ENet</a:t>
            </a:r>
            <a:endParaRPr sz="2800">
              <a:latin typeface="Consolas"/>
              <a:cs typeface="Consolas"/>
            </a:endParaRPr>
          </a:p>
        </p:txBody>
      </p:sp>
      <p:pic>
        <p:nvPicPr>
          <p:cNvPr id="3" name="object 3" descr="A diagram of a process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320" y="1456944"/>
            <a:ext cx="11457432" cy="355092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797543" y="4878287"/>
            <a:ext cx="1252220" cy="2495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50" i="1" spc="210" dirty="0">
                <a:solidFill>
                  <a:srgbClr val="585858"/>
                </a:solidFill>
                <a:latin typeface="Cambria"/>
                <a:cs typeface="Cambria"/>
              </a:rPr>
              <a:t>C</a:t>
            </a:r>
            <a:r>
              <a:rPr sz="1450" i="1" spc="6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85858"/>
                </a:solidFill>
                <a:latin typeface="Cambria"/>
                <a:cs typeface="Cambria"/>
              </a:rPr>
              <a:t>-</a:t>
            </a:r>
            <a:r>
              <a:rPr sz="14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400" spc="65" dirty="0">
                <a:solidFill>
                  <a:srgbClr val="585858"/>
                </a:solidFill>
                <a:latin typeface="Cambria"/>
                <a:cs typeface="Cambria"/>
              </a:rPr>
              <a:t>OutputDim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Electrical</a:t>
            </a:r>
            <a:r>
              <a:rPr spc="-70" dirty="0"/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dirty="0"/>
              <a:t>Computer</a:t>
            </a:r>
            <a:r>
              <a:rPr spc="20" dirty="0"/>
              <a:t> </a:t>
            </a:r>
            <a:r>
              <a:rPr dirty="0"/>
              <a:t>Engineering,</a:t>
            </a:r>
            <a:r>
              <a:rPr spc="-65" dirty="0"/>
              <a:t> </a:t>
            </a:r>
            <a:r>
              <a:rPr dirty="0"/>
              <a:t>Center</a:t>
            </a:r>
            <a:r>
              <a:rPr spc="-5" dirty="0"/>
              <a:t> </a:t>
            </a:r>
            <a:r>
              <a:rPr spc="-10" dirty="0"/>
              <a:t>for</a:t>
            </a:r>
            <a:r>
              <a:rPr spc="-80" dirty="0"/>
              <a:t> </a:t>
            </a:r>
            <a:r>
              <a:rPr spc="-10" dirty="0"/>
              <a:t>Autonomy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16056" y="277368"/>
            <a:ext cx="515111" cy="74675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54736" y="277368"/>
            <a:ext cx="97790" cy="1191895"/>
          </a:xfrm>
          <a:custGeom>
            <a:avLst/>
            <a:gdLst/>
            <a:ahLst/>
            <a:cxnLst/>
            <a:rect l="l" t="t" r="r" b="b"/>
            <a:pathLst>
              <a:path w="97790" h="1191895">
                <a:moveTo>
                  <a:pt x="97536" y="0"/>
                </a:moveTo>
                <a:lnTo>
                  <a:pt x="0" y="0"/>
                </a:lnTo>
                <a:lnTo>
                  <a:pt x="0" y="1191767"/>
                </a:lnTo>
                <a:lnTo>
                  <a:pt x="97536" y="1191767"/>
                </a:lnTo>
                <a:lnTo>
                  <a:pt x="97536" y="0"/>
                </a:lnTo>
                <a:close/>
              </a:path>
            </a:pathLst>
          </a:custGeom>
          <a:solidFill>
            <a:srgbClr val="FF5F0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245352"/>
            <a:ext cx="12186285" cy="612775"/>
          </a:xfrm>
          <a:custGeom>
            <a:avLst/>
            <a:gdLst/>
            <a:ahLst/>
            <a:cxnLst/>
            <a:rect l="l" t="t" r="r" b="b"/>
            <a:pathLst>
              <a:path w="12186285" h="612775">
                <a:moveTo>
                  <a:pt x="12185904" y="0"/>
                </a:moveTo>
                <a:lnTo>
                  <a:pt x="0" y="0"/>
                </a:lnTo>
                <a:lnTo>
                  <a:pt x="0" y="612648"/>
                </a:lnTo>
                <a:lnTo>
                  <a:pt x="12185904" y="612648"/>
                </a:lnTo>
                <a:lnTo>
                  <a:pt x="12185904" y="0"/>
                </a:lnTo>
                <a:close/>
              </a:path>
            </a:pathLst>
          </a:custGeom>
          <a:solidFill>
            <a:srgbClr val="12294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005583" y="3218688"/>
            <a:ext cx="5294630" cy="469900"/>
            <a:chOff x="2005583" y="3218688"/>
            <a:chExt cx="5294630" cy="469900"/>
          </a:xfrm>
        </p:grpSpPr>
        <p:sp>
          <p:nvSpPr>
            <p:cNvPr id="6" name="object 6"/>
            <p:cNvSpPr/>
            <p:nvPr/>
          </p:nvSpPr>
          <p:spPr>
            <a:xfrm>
              <a:off x="2011679" y="3224784"/>
              <a:ext cx="5282565" cy="457200"/>
            </a:xfrm>
            <a:custGeom>
              <a:avLst/>
              <a:gdLst/>
              <a:ahLst/>
              <a:cxnLst/>
              <a:rect l="l" t="t" r="r" b="b"/>
              <a:pathLst>
                <a:path w="5282565" h="457200">
                  <a:moveTo>
                    <a:pt x="5205984" y="0"/>
                  </a:moveTo>
                  <a:lnTo>
                    <a:pt x="76200" y="0"/>
                  </a:lnTo>
                  <a:lnTo>
                    <a:pt x="46559" y="5994"/>
                  </a:lnTo>
                  <a:lnTo>
                    <a:pt x="22336" y="22336"/>
                  </a:lnTo>
                  <a:lnTo>
                    <a:pt x="5994" y="46559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94" y="410640"/>
                  </a:lnTo>
                  <a:lnTo>
                    <a:pt x="22336" y="434863"/>
                  </a:lnTo>
                  <a:lnTo>
                    <a:pt x="46559" y="451205"/>
                  </a:lnTo>
                  <a:lnTo>
                    <a:pt x="76200" y="457199"/>
                  </a:lnTo>
                  <a:lnTo>
                    <a:pt x="5205984" y="457199"/>
                  </a:lnTo>
                  <a:lnTo>
                    <a:pt x="5235624" y="451205"/>
                  </a:lnTo>
                  <a:lnTo>
                    <a:pt x="5259847" y="434863"/>
                  </a:lnTo>
                  <a:lnTo>
                    <a:pt x="5276189" y="410640"/>
                  </a:lnTo>
                  <a:lnTo>
                    <a:pt x="5282184" y="381000"/>
                  </a:lnTo>
                  <a:lnTo>
                    <a:pt x="5282184" y="76200"/>
                  </a:lnTo>
                  <a:lnTo>
                    <a:pt x="5276189" y="46559"/>
                  </a:lnTo>
                  <a:lnTo>
                    <a:pt x="5259847" y="22336"/>
                  </a:lnTo>
                  <a:lnTo>
                    <a:pt x="5235624" y="5994"/>
                  </a:lnTo>
                  <a:lnTo>
                    <a:pt x="5205984" y="0"/>
                  </a:lnTo>
                  <a:close/>
                </a:path>
              </a:pathLst>
            </a:custGeom>
            <a:solidFill>
              <a:srgbClr val="D9D9D9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011679" y="3224784"/>
              <a:ext cx="5282565" cy="457200"/>
            </a:xfrm>
            <a:custGeom>
              <a:avLst/>
              <a:gdLst/>
              <a:ahLst/>
              <a:cxnLst/>
              <a:rect l="l" t="t" r="r" b="b"/>
              <a:pathLst>
                <a:path w="5282565" h="457200">
                  <a:moveTo>
                    <a:pt x="0" y="76200"/>
                  </a:moveTo>
                  <a:lnTo>
                    <a:pt x="5994" y="46559"/>
                  </a:lnTo>
                  <a:lnTo>
                    <a:pt x="22336" y="22336"/>
                  </a:lnTo>
                  <a:lnTo>
                    <a:pt x="46559" y="5994"/>
                  </a:lnTo>
                  <a:lnTo>
                    <a:pt x="76200" y="0"/>
                  </a:lnTo>
                  <a:lnTo>
                    <a:pt x="5205984" y="0"/>
                  </a:lnTo>
                  <a:lnTo>
                    <a:pt x="5235624" y="5994"/>
                  </a:lnTo>
                  <a:lnTo>
                    <a:pt x="5259847" y="22336"/>
                  </a:lnTo>
                  <a:lnTo>
                    <a:pt x="5276189" y="46559"/>
                  </a:lnTo>
                  <a:lnTo>
                    <a:pt x="5282184" y="76200"/>
                  </a:lnTo>
                  <a:lnTo>
                    <a:pt x="5282184" y="381000"/>
                  </a:lnTo>
                  <a:lnTo>
                    <a:pt x="5276189" y="410640"/>
                  </a:lnTo>
                  <a:lnTo>
                    <a:pt x="5259847" y="434863"/>
                  </a:lnTo>
                  <a:lnTo>
                    <a:pt x="5235624" y="451205"/>
                  </a:lnTo>
                  <a:lnTo>
                    <a:pt x="5205984" y="457199"/>
                  </a:lnTo>
                  <a:lnTo>
                    <a:pt x="76200" y="457199"/>
                  </a:lnTo>
                  <a:lnTo>
                    <a:pt x="46559" y="451205"/>
                  </a:lnTo>
                  <a:lnTo>
                    <a:pt x="22336" y="434863"/>
                  </a:lnTo>
                  <a:lnTo>
                    <a:pt x="5994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12192">
              <a:solidFill>
                <a:srgbClr val="002C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2005583" y="2026920"/>
            <a:ext cx="5294630" cy="652780"/>
            <a:chOff x="2005583" y="2026920"/>
            <a:chExt cx="5294630" cy="652780"/>
          </a:xfrm>
        </p:grpSpPr>
        <p:sp>
          <p:nvSpPr>
            <p:cNvPr id="9" name="object 9"/>
            <p:cNvSpPr/>
            <p:nvPr/>
          </p:nvSpPr>
          <p:spPr>
            <a:xfrm>
              <a:off x="2011679" y="2033016"/>
              <a:ext cx="5282565" cy="640080"/>
            </a:xfrm>
            <a:custGeom>
              <a:avLst/>
              <a:gdLst/>
              <a:ahLst/>
              <a:cxnLst/>
              <a:rect l="l" t="t" r="r" b="b"/>
              <a:pathLst>
                <a:path w="5282565" h="640080">
                  <a:moveTo>
                    <a:pt x="5175504" y="0"/>
                  </a:moveTo>
                  <a:lnTo>
                    <a:pt x="106680" y="0"/>
                  </a:lnTo>
                  <a:lnTo>
                    <a:pt x="65150" y="8381"/>
                  </a:lnTo>
                  <a:lnTo>
                    <a:pt x="31242" y="31241"/>
                  </a:lnTo>
                  <a:lnTo>
                    <a:pt x="8381" y="65150"/>
                  </a:lnTo>
                  <a:lnTo>
                    <a:pt x="0" y="106680"/>
                  </a:lnTo>
                  <a:lnTo>
                    <a:pt x="0" y="533400"/>
                  </a:lnTo>
                  <a:lnTo>
                    <a:pt x="8381" y="574928"/>
                  </a:lnTo>
                  <a:lnTo>
                    <a:pt x="31242" y="608838"/>
                  </a:lnTo>
                  <a:lnTo>
                    <a:pt x="65150" y="631698"/>
                  </a:lnTo>
                  <a:lnTo>
                    <a:pt x="106680" y="640080"/>
                  </a:lnTo>
                  <a:lnTo>
                    <a:pt x="5175504" y="640080"/>
                  </a:lnTo>
                  <a:lnTo>
                    <a:pt x="5217033" y="631698"/>
                  </a:lnTo>
                  <a:lnTo>
                    <a:pt x="5250942" y="608838"/>
                  </a:lnTo>
                  <a:lnTo>
                    <a:pt x="5273802" y="574929"/>
                  </a:lnTo>
                  <a:lnTo>
                    <a:pt x="5282184" y="533400"/>
                  </a:lnTo>
                  <a:lnTo>
                    <a:pt x="5282184" y="106680"/>
                  </a:lnTo>
                  <a:lnTo>
                    <a:pt x="5273802" y="65151"/>
                  </a:lnTo>
                  <a:lnTo>
                    <a:pt x="5250942" y="31242"/>
                  </a:lnTo>
                  <a:lnTo>
                    <a:pt x="5217033" y="8382"/>
                  </a:lnTo>
                  <a:lnTo>
                    <a:pt x="5175504" y="0"/>
                  </a:lnTo>
                  <a:close/>
                </a:path>
              </a:pathLst>
            </a:custGeom>
            <a:solidFill>
              <a:srgbClr val="D9D9D9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011679" y="2033016"/>
              <a:ext cx="5282565" cy="640080"/>
            </a:xfrm>
            <a:custGeom>
              <a:avLst/>
              <a:gdLst/>
              <a:ahLst/>
              <a:cxnLst/>
              <a:rect l="l" t="t" r="r" b="b"/>
              <a:pathLst>
                <a:path w="5282565" h="640080">
                  <a:moveTo>
                    <a:pt x="0" y="106680"/>
                  </a:moveTo>
                  <a:lnTo>
                    <a:pt x="8381" y="65150"/>
                  </a:lnTo>
                  <a:lnTo>
                    <a:pt x="31242" y="31241"/>
                  </a:lnTo>
                  <a:lnTo>
                    <a:pt x="65150" y="8381"/>
                  </a:lnTo>
                  <a:lnTo>
                    <a:pt x="106680" y="0"/>
                  </a:lnTo>
                  <a:lnTo>
                    <a:pt x="5175504" y="0"/>
                  </a:lnTo>
                  <a:lnTo>
                    <a:pt x="5217033" y="8382"/>
                  </a:lnTo>
                  <a:lnTo>
                    <a:pt x="5250942" y="31242"/>
                  </a:lnTo>
                  <a:lnTo>
                    <a:pt x="5273802" y="65151"/>
                  </a:lnTo>
                  <a:lnTo>
                    <a:pt x="5282184" y="106680"/>
                  </a:lnTo>
                  <a:lnTo>
                    <a:pt x="5282184" y="533400"/>
                  </a:lnTo>
                  <a:lnTo>
                    <a:pt x="5273802" y="574929"/>
                  </a:lnTo>
                  <a:lnTo>
                    <a:pt x="5250942" y="608838"/>
                  </a:lnTo>
                  <a:lnTo>
                    <a:pt x="5217033" y="631698"/>
                  </a:lnTo>
                  <a:lnTo>
                    <a:pt x="5175504" y="640080"/>
                  </a:lnTo>
                  <a:lnTo>
                    <a:pt x="106680" y="640080"/>
                  </a:lnTo>
                  <a:lnTo>
                    <a:pt x="65150" y="631698"/>
                  </a:lnTo>
                  <a:lnTo>
                    <a:pt x="31242" y="608838"/>
                  </a:lnTo>
                  <a:lnTo>
                    <a:pt x="8381" y="574928"/>
                  </a:lnTo>
                  <a:lnTo>
                    <a:pt x="0" y="533400"/>
                  </a:lnTo>
                  <a:lnTo>
                    <a:pt x="0" y="106680"/>
                  </a:lnTo>
                  <a:close/>
                </a:path>
              </a:pathLst>
            </a:custGeom>
            <a:ln w="12192">
              <a:solidFill>
                <a:srgbClr val="002C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72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Pytorch</a:t>
            </a:r>
            <a:r>
              <a:rPr spc="-60" dirty="0"/>
              <a:t> </a:t>
            </a:r>
            <a:r>
              <a:rPr dirty="0"/>
              <a:t>Overview</a:t>
            </a:r>
            <a:r>
              <a:rPr spc="-85" dirty="0"/>
              <a:t> </a:t>
            </a:r>
            <a:r>
              <a:rPr dirty="0"/>
              <a:t>-</a:t>
            </a:r>
            <a:r>
              <a:rPr spc="-110" dirty="0"/>
              <a:t> </a:t>
            </a:r>
            <a:r>
              <a:rPr spc="-10" dirty="0"/>
              <a:t>Optimizer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Electrical</a:t>
            </a:r>
            <a:r>
              <a:rPr spc="-70" dirty="0"/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dirty="0"/>
              <a:t>Computer</a:t>
            </a:r>
            <a:r>
              <a:rPr spc="20" dirty="0"/>
              <a:t> </a:t>
            </a:r>
            <a:r>
              <a:rPr dirty="0"/>
              <a:t>Engineering,</a:t>
            </a:r>
            <a:r>
              <a:rPr spc="-65" dirty="0"/>
              <a:t> </a:t>
            </a:r>
            <a:r>
              <a:rPr dirty="0"/>
              <a:t>Center</a:t>
            </a:r>
            <a:r>
              <a:rPr spc="-5" dirty="0"/>
              <a:t> </a:t>
            </a:r>
            <a:r>
              <a:rPr spc="-10" dirty="0"/>
              <a:t>for</a:t>
            </a:r>
            <a:r>
              <a:rPr spc="-80" dirty="0"/>
              <a:t> </a:t>
            </a:r>
            <a:r>
              <a:rPr spc="-10" dirty="0"/>
              <a:t>Autonomy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731316" y="1615309"/>
            <a:ext cx="6861175" cy="3872229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900" dirty="0">
                <a:solidFill>
                  <a:srgbClr val="12294A"/>
                </a:solidFill>
                <a:latin typeface="Arial MT"/>
                <a:cs typeface="Arial MT"/>
              </a:rPr>
              <a:t>We</a:t>
            </a:r>
            <a:r>
              <a:rPr sz="1900" spc="-10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2294A"/>
                </a:solidFill>
                <a:latin typeface="Arial MT"/>
                <a:cs typeface="Arial MT"/>
              </a:rPr>
              <a:t>need</a:t>
            </a:r>
            <a:r>
              <a:rPr sz="1900" spc="-1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2294A"/>
                </a:solidFill>
                <a:latin typeface="Arial MT"/>
                <a:cs typeface="Arial MT"/>
              </a:rPr>
              <a:t>a</a:t>
            </a:r>
            <a:r>
              <a:rPr sz="19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2294A"/>
                </a:solidFill>
                <a:latin typeface="Arial MT"/>
                <a:cs typeface="Arial MT"/>
              </a:rPr>
              <a:t>loss</a:t>
            </a:r>
            <a:r>
              <a:rPr sz="19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2294A"/>
                </a:solidFill>
                <a:latin typeface="Arial MT"/>
                <a:cs typeface="Arial MT"/>
              </a:rPr>
              <a:t>function</a:t>
            </a:r>
            <a:r>
              <a:rPr sz="19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2294A"/>
                </a:solidFill>
                <a:latin typeface="Arial MT"/>
                <a:cs typeface="Arial MT"/>
              </a:rPr>
              <a:t>and</a:t>
            </a:r>
            <a:r>
              <a:rPr sz="1900" spc="-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2294A"/>
                </a:solidFill>
                <a:latin typeface="Arial MT"/>
                <a:cs typeface="Arial MT"/>
              </a:rPr>
              <a:t>an</a:t>
            </a:r>
            <a:r>
              <a:rPr sz="19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2294A"/>
                </a:solidFill>
                <a:latin typeface="Arial MT"/>
                <a:cs typeface="Arial MT"/>
              </a:rPr>
              <a:t>optimizer</a:t>
            </a:r>
            <a:r>
              <a:rPr sz="1900" spc="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2294A"/>
                </a:solidFill>
                <a:latin typeface="Arial MT"/>
                <a:cs typeface="Arial MT"/>
              </a:rPr>
              <a:t>to</a:t>
            </a:r>
            <a:r>
              <a:rPr sz="19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2294A"/>
                </a:solidFill>
                <a:latin typeface="Arial MT"/>
                <a:cs typeface="Arial MT"/>
              </a:rPr>
              <a:t>train</a:t>
            </a:r>
            <a:r>
              <a:rPr sz="19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2294A"/>
                </a:solidFill>
                <a:latin typeface="Arial MT"/>
                <a:cs typeface="Arial MT"/>
              </a:rPr>
              <a:t>a</a:t>
            </a:r>
            <a:r>
              <a:rPr sz="19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12294A"/>
                </a:solidFill>
                <a:latin typeface="Arial MT"/>
                <a:cs typeface="Arial MT"/>
              </a:rPr>
              <a:t>model.</a:t>
            </a:r>
            <a:endParaRPr sz="19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  <a:spcBef>
                <a:spcPts val="500"/>
              </a:spcBef>
            </a:pPr>
            <a:r>
              <a:rPr sz="1400" dirty="0">
                <a:solidFill>
                  <a:srgbClr val="12294A"/>
                </a:solidFill>
                <a:latin typeface="Consolas"/>
                <a:cs typeface="Consolas"/>
              </a:rPr>
              <a:t>Eg.</a:t>
            </a:r>
            <a:r>
              <a:rPr sz="1400" spc="-70" dirty="0">
                <a:solidFill>
                  <a:srgbClr val="12294A"/>
                </a:solidFill>
                <a:latin typeface="Consolas"/>
                <a:cs typeface="Consolas"/>
              </a:rPr>
              <a:t> </a:t>
            </a:r>
            <a:r>
              <a:rPr sz="1400" b="1" dirty="0">
                <a:solidFill>
                  <a:srgbClr val="0070CE"/>
                </a:solidFill>
                <a:latin typeface="Consolas"/>
                <a:cs typeface="Consolas"/>
              </a:rPr>
              <a:t>def</a:t>
            </a:r>
            <a:r>
              <a:rPr sz="1400" b="1" spc="-35" dirty="0">
                <a:solidFill>
                  <a:srgbClr val="0070CE"/>
                </a:solidFill>
                <a:latin typeface="Consolas"/>
                <a:cs typeface="Consolas"/>
              </a:rPr>
              <a:t> </a:t>
            </a:r>
            <a:r>
              <a:rPr sz="1400" b="1" dirty="0">
                <a:solidFill>
                  <a:srgbClr val="990000"/>
                </a:solidFill>
                <a:latin typeface="Consolas"/>
                <a:cs typeface="Consolas"/>
              </a:rPr>
              <a:t>train</a:t>
            </a:r>
            <a:r>
              <a:rPr sz="1400" b="1" dirty="0">
                <a:solidFill>
                  <a:srgbClr val="12294A"/>
                </a:solidFill>
                <a:latin typeface="Consolas"/>
                <a:cs typeface="Consolas"/>
              </a:rPr>
              <a:t>(dataloader,</a:t>
            </a:r>
            <a:r>
              <a:rPr sz="1400" b="1" spc="-50" dirty="0">
                <a:solidFill>
                  <a:srgbClr val="12294A"/>
                </a:solidFill>
                <a:latin typeface="Consolas"/>
                <a:cs typeface="Consolas"/>
              </a:rPr>
              <a:t> </a:t>
            </a:r>
            <a:r>
              <a:rPr sz="1400" b="1" dirty="0">
                <a:solidFill>
                  <a:srgbClr val="12294A"/>
                </a:solidFill>
                <a:latin typeface="Consolas"/>
                <a:cs typeface="Consolas"/>
              </a:rPr>
              <a:t>model,</a:t>
            </a:r>
            <a:r>
              <a:rPr sz="1400" b="1" spc="-50" dirty="0">
                <a:solidFill>
                  <a:srgbClr val="12294A"/>
                </a:solidFill>
                <a:latin typeface="Consolas"/>
                <a:cs typeface="Consolas"/>
              </a:rPr>
              <a:t> </a:t>
            </a:r>
            <a:r>
              <a:rPr sz="1400" b="1" dirty="0">
                <a:solidFill>
                  <a:srgbClr val="FF5F04"/>
                </a:solidFill>
                <a:latin typeface="Consolas"/>
                <a:cs typeface="Consolas"/>
              </a:rPr>
              <a:t>loss_fn</a:t>
            </a:r>
            <a:r>
              <a:rPr sz="1400" b="1" dirty="0">
                <a:solidFill>
                  <a:srgbClr val="12294A"/>
                </a:solidFill>
                <a:latin typeface="Consolas"/>
                <a:cs typeface="Consolas"/>
              </a:rPr>
              <a:t>,</a:t>
            </a:r>
            <a:r>
              <a:rPr sz="1400" b="1" spc="-45" dirty="0">
                <a:solidFill>
                  <a:srgbClr val="12294A"/>
                </a:solidFill>
                <a:latin typeface="Consolas"/>
                <a:cs typeface="Consolas"/>
              </a:rPr>
              <a:t> </a:t>
            </a:r>
            <a:r>
              <a:rPr sz="1400" b="1" spc="-10" dirty="0">
                <a:solidFill>
                  <a:srgbClr val="FF5F04"/>
                </a:solidFill>
                <a:latin typeface="Consolas"/>
                <a:cs typeface="Consolas"/>
              </a:rPr>
              <a:t>optimizer</a:t>
            </a:r>
            <a:r>
              <a:rPr sz="1400" b="1" spc="-10" dirty="0">
                <a:solidFill>
                  <a:srgbClr val="12294A"/>
                </a:solidFill>
                <a:latin typeface="Consolas"/>
                <a:cs typeface="Consolas"/>
              </a:rPr>
              <a:t>):</a:t>
            </a:r>
            <a:endParaRPr sz="1400">
              <a:latin typeface="Consolas"/>
              <a:cs typeface="Consolas"/>
            </a:endParaRPr>
          </a:p>
          <a:p>
            <a:pPr marL="1841500">
              <a:lnSpc>
                <a:spcPct val="100000"/>
              </a:lnSpc>
              <a:spcBef>
                <a:spcPts val="969"/>
              </a:spcBef>
            </a:pPr>
            <a:r>
              <a:rPr sz="1100" spc="-50" dirty="0">
                <a:solidFill>
                  <a:srgbClr val="12294A"/>
                </a:solidFill>
                <a:latin typeface="Arial MT"/>
                <a:cs typeface="Arial MT"/>
              </a:rPr>
              <a:t>…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9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19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2294A"/>
                </a:solidFill>
                <a:latin typeface="Arial MT"/>
                <a:cs typeface="Arial MT"/>
              </a:rPr>
              <a:t>optimizer</a:t>
            </a:r>
            <a:r>
              <a:rPr sz="19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2294A"/>
                </a:solidFill>
                <a:latin typeface="Arial MT"/>
                <a:cs typeface="Arial MT"/>
              </a:rPr>
              <a:t>updates</a:t>
            </a:r>
            <a:r>
              <a:rPr sz="19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19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2294A"/>
                </a:solidFill>
                <a:latin typeface="Arial MT"/>
                <a:cs typeface="Arial MT"/>
              </a:rPr>
              <a:t>model's</a:t>
            </a:r>
            <a:r>
              <a:rPr sz="19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2294A"/>
                </a:solidFill>
                <a:latin typeface="Arial MT"/>
                <a:cs typeface="Arial MT"/>
              </a:rPr>
              <a:t>weights</a:t>
            </a:r>
            <a:r>
              <a:rPr sz="19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2294A"/>
                </a:solidFill>
                <a:latin typeface="Arial MT"/>
                <a:cs typeface="Arial MT"/>
              </a:rPr>
              <a:t>to</a:t>
            </a:r>
            <a:r>
              <a:rPr sz="19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2294A"/>
                </a:solidFill>
                <a:latin typeface="Arial MT"/>
                <a:cs typeface="Arial MT"/>
              </a:rPr>
              <a:t>minimize</a:t>
            </a:r>
            <a:r>
              <a:rPr sz="19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19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12294A"/>
                </a:solidFill>
                <a:latin typeface="Arial MT"/>
                <a:cs typeface="Arial MT"/>
              </a:rPr>
              <a:t>loss.</a:t>
            </a:r>
            <a:endParaRPr sz="19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  <a:spcBef>
                <a:spcPts val="500"/>
              </a:spcBef>
            </a:pPr>
            <a:r>
              <a:rPr sz="1400" dirty="0">
                <a:solidFill>
                  <a:srgbClr val="12294A"/>
                </a:solidFill>
                <a:latin typeface="Consolas"/>
                <a:cs typeface="Consolas"/>
              </a:rPr>
              <a:t>Eg.</a:t>
            </a:r>
            <a:r>
              <a:rPr sz="1400" spc="-25" dirty="0">
                <a:solidFill>
                  <a:srgbClr val="12294A"/>
                </a:solidFill>
                <a:latin typeface="Consolas"/>
                <a:cs typeface="Consolas"/>
              </a:rPr>
              <a:t> </a:t>
            </a:r>
            <a:r>
              <a:rPr sz="1400" b="1" dirty="0">
                <a:solidFill>
                  <a:srgbClr val="12294A"/>
                </a:solidFill>
                <a:latin typeface="Consolas"/>
                <a:cs typeface="Consolas"/>
              </a:rPr>
              <a:t>optimizer</a:t>
            </a:r>
            <a:r>
              <a:rPr sz="1400" b="1" spc="-30" dirty="0">
                <a:solidFill>
                  <a:srgbClr val="12294A"/>
                </a:solidFill>
                <a:latin typeface="Consolas"/>
                <a:cs typeface="Consolas"/>
              </a:rPr>
              <a:t> </a:t>
            </a:r>
            <a:r>
              <a:rPr sz="1400" b="1" dirty="0">
                <a:solidFill>
                  <a:srgbClr val="12294A"/>
                </a:solidFill>
                <a:latin typeface="Consolas"/>
                <a:cs typeface="Consolas"/>
              </a:rPr>
              <a:t>= </a:t>
            </a:r>
            <a:r>
              <a:rPr sz="1400" b="1" spc="-10" dirty="0">
                <a:solidFill>
                  <a:srgbClr val="12294A"/>
                </a:solidFill>
                <a:latin typeface="Consolas"/>
                <a:cs typeface="Consolas"/>
              </a:rPr>
              <a:t>optim.Adam(model.parameters(),</a:t>
            </a:r>
            <a:r>
              <a:rPr sz="1400" b="1" spc="-5" dirty="0">
                <a:solidFill>
                  <a:srgbClr val="12294A"/>
                </a:solidFill>
                <a:latin typeface="Consolas"/>
                <a:cs typeface="Consolas"/>
              </a:rPr>
              <a:t> </a:t>
            </a:r>
            <a:r>
              <a:rPr sz="1400" b="1" spc="-10" dirty="0">
                <a:solidFill>
                  <a:srgbClr val="12294A"/>
                </a:solidFill>
                <a:latin typeface="Consolas"/>
                <a:cs typeface="Consolas"/>
              </a:rPr>
              <a:t>lr=</a:t>
            </a:r>
            <a:r>
              <a:rPr sz="1400" b="1" spc="-10" dirty="0">
                <a:solidFill>
                  <a:srgbClr val="DF2CA0"/>
                </a:solidFill>
                <a:latin typeface="Consolas"/>
                <a:cs typeface="Consolas"/>
              </a:rPr>
              <a:t>0.001</a:t>
            </a:r>
            <a:r>
              <a:rPr sz="1400" b="1" spc="-10" dirty="0">
                <a:solidFill>
                  <a:srgbClr val="12294A"/>
                </a:solidFill>
                <a:latin typeface="Consolas"/>
                <a:cs typeface="Consolas"/>
              </a:rPr>
              <a:t>)</a:t>
            </a:r>
            <a:endParaRPr sz="14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sz="1400">
              <a:latin typeface="Consolas"/>
              <a:cs typeface="Consolas"/>
            </a:endParaRPr>
          </a:p>
          <a:p>
            <a:pPr marL="356870" indent="-344170">
              <a:lnSpc>
                <a:spcPts val="1885"/>
              </a:lnSpc>
              <a:buFont typeface="Arial MT"/>
              <a:buChar char="•"/>
              <a:tabLst>
                <a:tab pos="356870" algn="l"/>
              </a:tabLst>
            </a:pPr>
            <a:r>
              <a:rPr sz="1600" b="1" dirty="0">
                <a:solidFill>
                  <a:srgbClr val="12294A"/>
                </a:solidFill>
                <a:latin typeface="Arial"/>
                <a:cs typeface="Arial"/>
              </a:rPr>
              <a:t>Learning</a:t>
            </a:r>
            <a:r>
              <a:rPr sz="1600" b="1" spc="-60" dirty="0">
                <a:solidFill>
                  <a:srgbClr val="12294A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12294A"/>
                </a:solidFill>
                <a:latin typeface="Arial"/>
                <a:cs typeface="Arial"/>
              </a:rPr>
              <a:t>Rate</a:t>
            </a:r>
            <a:r>
              <a:rPr sz="1600" b="1" spc="-25" dirty="0">
                <a:solidFill>
                  <a:srgbClr val="12294A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12294A"/>
                </a:solidFill>
                <a:latin typeface="Arial"/>
                <a:cs typeface="Arial"/>
              </a:rPr>
              <a:t>(lr)</a:t>
            </a:r>
            <a:endParaRPr sz="1600">
              <a:latin typeface="Arial"/>
              <a:cs typeface="Arial"/>
            </a:endParaRPr>
          </a:p>
          <a:p>
            <a:pPr marL="984885" lvl="1" indent="-286385">
              <a:lnSpc>
                <a:spcPts val="1875"/>
              </a:lnSpc>
              <a:buChar char="•"/>
              <a:tabLst>
                <a:tab pos="984885" algn="l"/>
              </a:tabLst>
            </a:pPr>
            <a:r>
              <a:rPr sz="1600" dirty="0">
                <a:solidFill>
                  <a:srgbClr val="12294A"/>
                </a:solidFill>
                <a:latin typeface="Arial MT"/>
                <a:cs typeface="Arial MT"/>
              </a:rPr>
              <a:t>Controls</a:t>
            </a:r>
            <a:r>
              <a:rPr sz="16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2294A"/>
                </a:solidFill>
                <a:latin typeface="Arial MT"/>
                <a:cs typeface="Arial MT"/>
              </a:rPr>
              <a:t>the</a:t>
            </a:r>
            <a:r>
              <a:rPr sz="16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2294A"/>
                </a:solidFill>
                <a:latin typeface="Arial MT"/>
                <a:cs typeface="Arial MT"/>
              </a:rPr>
              <a:t>step</a:t>
            </a:r>
            <a:r>
              <a:rPr sz="16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2294A"/>
                </a:solidFill>
                <a:latin typeface="Arial MT"/>
                <a:cs typeface="Arial MT"/>
              </a:rPr>
              <a:t>size</a:t>
            </a:r>
            <a:r>
              <a:rPr sz="16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2294A"/>
                </a:solidFill>
                <a:latin typeface="Arial MT"/>
                <a:cs typeface="Arial MT"/>
              </a:rPr>
              <a:t>of</a:t>
            </a:r>
            <a:r>
              <a:rPr sz="16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2294A"/>
                </a:solidFill>
                <a:latin typeface="Arial MT"/>
                <a:cs typeface="Arial MT"/>
              </a:rPr>
              <a:t>weight</a:t>
            </a:r>
            <a:r>
              <a:rPr sz="1600" spc="-1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2294A"/>
                </a:solidFill>
                <a:latin typeface="Arial MT"/>
                <a:cs typeface="Arial MT"/>
              </a:rPr>
              <a:t>updates</a:t>
            </a:r>
            <a:r>
              <a:rPr sz="16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2294A"/>
                </a:solidFill>
                <a:latin typeface="Arial MT"/>
                <a:cs typeface="Arial MT"/>
              </a:rPr>
              <a:t>during</a:t>
            </a:r>
            <a:r>
              <a:rPr sz="16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2294A"/>
                </a:solidFill>
                <a:latin typeface="Arial MT"/>
                <a:cs typeface="Arial MT"/>
              </a:rPr>
              <a:t>training</a:t>
            </a:r>
            <a:endParaRPr sz="1600">
              <a:latin typeface="Arial MT"/>
              <a:cs typeface="Arial MT"/>
            </a:endParaRPr>
          </a:p>
          <a:p>
            <a:pPr marL="984885" lvl="1" indent="-286385">
              <a:lnSpc>
                <a:spcPts val="1660"/>
              </a:lnSpc>
              <a:buChar char="•"/>
              <a:tabLst>
                <a:tab pos="984885" algn="l"/>
              </a:tabLst>
            </a:pPr>
            <a:r>
              <a:rPr sz="1400" spc="-35" dirty="0">
                <a:solidFill>
                  <a:srgbClr val="12294A"/>
                </a:solidFill>
                <a:latin typeface="Arial MT"/>
                <a:cs typeface="Arial MT"/>
              </a:rPr>
              <a:t>Too</a:t>
            </a:r>
            <a:r>
              <a:rPr sz="1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2294A"/>
                </a:solidFill>
                <a:latin typeface="Arial MT"/>
                <a:cs typeface="Arial MT"/>
              </a:rPr>
              <a:t>high</a:t>
            </a:r>
            <a:r>
              <a:rPr sz="1400" spc="-2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2294A"/>
                </a:solidFill>
                <a:latin typeface="Arial MT"/>
                <a:cs typeface="Arial MT"/>
              </a:rPr>
              <a:t>–</a:t>
            </a:r>
            <a:r>
              <a:rPr sz="1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2294A"/>
                </a:solidFill>
                <a:latin typeface="Arial MT"/>
                <a:cs typeface="Arial MT"/>
              </a:rPr>
              <a:t>Model</a:t>
            </a:r>
            <a:r>
              <a:rPr sz="1400" spc="2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2294A"/>
                </a:solidFill>
                <a:latin typeface="Arial MT"/>
                <a:cs typeface="Arial MT"/>
              </a:rPr>
              <a:t>diverges ;</a:t>
            </a:r>
            <a:r>
              <a:rPr sz="1400" spc="-7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400" spc="-35" dirty="0">
                <a:solidFill>
                  <a:srgbClr val="12294A"/>
                </a:solidFill>
                <a:latin typeface="Arial MT"/>
                <a:cs typeface="Arial MT"/>
              </a:rPr>
              <a:t>Too</a:t>
            </a:r>
            <a:r>
              <a:rPr sz="1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2294A"/>
                </a:solidFill>
                <a:latin typeface="Arial MT"/>
                <a:cs typeface="Arial MT"/>
              </a:rPr>
              <a:t>low</a:t>
            </a:r>
            <a:r>
              <a:rPr sz="1400" spc="-4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2294A"/>
                </a:solidFill>
                <a:latin typeface="Arial MT"/>
                <a:cs typeface="Arial MT"/>
              </a:rPr>
              <a:t>–</a:t>
            </a:r>
            <a:r>
              <a:rPr sz="1400" spc="-5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2294A"/>
                </a:solidFill>
                <a:latin typeface="Arial MT"/>
                <a:cs typeface="Arial MT"/>
              </a:rPr>
              <a:t>Training</a:t>
            </a:r>
            <a:r>
              <a:rPr sz="1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2294A"/>
                </a:solidFill>
                <a:latin typeface="Arial MT"/>
                <a:cs typeface="Arial MT"/>
              </a:rPr>
              <a:t>is</a:t>
            </a:r>
            <a:r>
              <a:rPr sz="1400" spc="-20" dirty="0">
                <a:solidFill>
                  <a:srgbClr val="12294A"/>
                </a:solidFill>
                <a:latin typeface="Arial MT"/>
                <a:cs typeface="Arial MT"/>
              </a:rPr>
              <a:t> slow</a:t>
            </a:r>
            <a:endParaRPr sz="1400">
              <a:latin typeface="Arial MT"/>
              <a:cs typeface="Arial MT"/>
            </a:endParaRPr>
          </a:p>
          <a:p>
            <a:pPr marL="984885" lvl="1" indent="-286385">
              <a:lnSpc>
                <a:spcPts val="1789"/>
              </a:lnSpc>
              <a:buFont typeface="Arial MT"/>
              <a:buChar char="•"/>
              <a:tabLst>
                <a:tab pos="984885" algn="l"/>
              </a:tabLst>
            </a:pPr>
            <a:r>
              <a:rPr sz="1500" i="1" dirty="0">
                <a:solidFill>
                  <a:srgbClr val="12294A"/>
                </a:solidFill>
                <a:latin typeface="Arial"/>
                <a:cs typeface="Arial"/>
              </a:rPr>
              <a:t>Tip: Start</a:t>
            </a:r>
            <a:r>
              <a:rPr sz="1500" i="1" spc="-45" dirty="0">
                <a:solidFill>
                  <a:srgbClr val="12294A"/>
                </a:solidFill>
                <a:latin typeface="Arial"/>
                <a:cs typeface="Arial"/>
              </a:rPr>
              <a:t> </a:t>
            </a:r>
            <a:r>
              <a:rPr sz="1500" i="1" dirty="0">
                <a:solidFill>
                  <a:srgbClr val="12294A"/>
                </a:solidFill>
                <a:latin typeface="Arial"/>
                <a:cs typeface="Arial"/>
              </a:rPr>
              <a:t>with</a:t>
            </a:r>
            <a:r>
              <a:rPr sz="1500" i="1" spc="-20" dirty="0">
                <a:solidFill>
                  <a:srgbClr val="12294A"/>
                </a:solidFill>
                <a:latin typeface="Arial"/>
                <a:cs typeface="Arial"/>
              </a:rPr>
              <a:t> </a:t>
            </a:r>
            <a:r>
              <a:rPr sz="1500" i="1" spc="-10" dirty="0">
                <a:solidFill>
                  <a:srgbClr val="12294A"/>
                </a:solidFill>
                <a:latin typeface="Arial"/>
                <a:cs typeface="Arial"/>
              </a:rPr>
              <a:t>1e-</a:t>
            </a:r>
            <a:r>
              <a:rPr sz="1500" i="1" dirty="0">
                <a:solidFill>
                  <a:srgbClr val="12294A"/>
                </a:solidFill>
                <a:latin typeface="Arial"/>
                <a:cs typeface="Arial"/>
              </a:rPr>
              <a:t>3</a:t>
            </a:r>
            <a:r>
              <a:rPr sz="1500" i="1" spc="-5" dirty="0">
                <a:solidFill>
                  <a:srgbClr val="12294A"/>
                </a:solidFill>
                <a:latin typeface="Arial"/>
                <a:cs typeface="Arial"/>
              </a:rPr>
              <a:t> </a:t>
            </a:r>
            <a:r>
              <a:rPr sz="1500" i="1" dirty="0">
                <a:solidFill>
                  <a:srgbClr val="12294A"/>
                </a:solidFill>
                <a:latin typeface="Arial"/>
                <a:cs typeface="Arial"/>
              </a:rPr>
              <a:t>or</a:t>
            </a:r>
            <a:r>
              <a:rPr sz="1500" i="1" spc="-5" dirty="0">
                <a:solidFill>
                  <a:srgbClr val="12294A"/>
                </a:solidFill>
                <a:latin typeface="Arial"/>
                <a:cs typeface="Arial"/>
              </a:rPr>
              <a:t> </a:t>
            </a:r>
            <a:r>
              <a:rPr sz="1500" i="1" spc="-10" dirty="0">
                <a:solidFill>
                  <a:srgbClr val="12294A"/>
                </a:solidFill>
                <a:latin typeface="Arial"/>
                <a:cs typeface="Arial"/>
              </a:rPr>
              <a:t>1e-</a:t>
            </a:r>
            <a:r>
              <a:rPr sz="1500" i="1" spc="-50" dirty="0">
                <a:solidFill>
                  <a:srgbClr val="12294A"/>
                </a:solidFill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  <a:p>
            <a:pPr marL="356870" indent="-344170">
              <a:lnSpc>
                <a:spcPct val="100000"/>
              </a:lnSpc>
              <a:spcBef>
                <a:spcPts val="405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b="1" dirty="0">
                <a:solidFill>
                  <a:srgbClr val="12294A"/>
                </a:solidFill>
                <a:latin typeface="Arial"/>
                <a:cs typeface="Arial"/>
              </a:rPr>
              <a:t>Weight</a:t>
            </a:r>
            <a:r>
              <a:rPr sz="1600" b="1" spc="-70" dirty="0">
                <a:solidFill>
                  <a:srgbClr val="12294A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12294A"/>
                </a:solidFill>
                <a:latin typeface="Arial"/>
                <a:cs typeface="Arial"/>
              </a:rPr>
              <a:t>Decay</a:t>
            </a:r>
            <a:endParaRPr sz="1600">
              <a:latin typeface="Arial"/>
              <a:cs typeface="Arial"/>
            </a:endParaRPr>
          </a:p>
          <a:p>
            <a:pPr marL="1042669" lvl="1" indent="-344170">
              <a:lnSpc>
                <a:spcPct val="100000"/>
              </a:lnSpc>
              <a:spcBef>
                <a:spcPts val="10"/>
              </a:spcBef>
              <a:buChar char="•"/>
              <a:tabLst>
                <a:tab pos="1042669" algn="l"/>
              </a:tabLst>
            </a:pPr>
            <a:r>
              <a:rPr sz="1400" dirty="0">
                <a:solidFill>
                  <a:srgbClr val="12294A"/>
                </a:solidFill>
                <a:latin typeface="Arial MT"/>
                <a:cs typeface="Arial MT"/>
              </a:rPr>
              <a:t>Adds</a:t>
            </a:r>
            <a:r>
              <a:rPr sz="1400" spc="-2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2294A"/>
                </a:solidFill>
                <a:latin typeface="Arial MT"/>
                <a:cs typeface="Arial MT"/>
              </a:rPr>
              <a:t>L2</a:t>
            </a:r>
            <a:r>
              <a:rPr sz="1400" spc="-2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2294A"/>
                </a:solidFill>
                <a:latin typeface="Arial MT"/>
                <a:cs typeface="Arial MT"/>
              </a:rPr>
              <a:t>Regularization</a:t>
            </a:r>
            <a:endParaRPr sz="1400">
              <a:latin typeface="Arial MT"/>
              <a:cs typeface="Arial MT"/>
            </a:endParaRPr>
          </a:p>
          <a:p>
            <a:pPr marL="1042669" lvl="1" indent="-344170">
              <a:lnSpc>
                <a:spcPct val="100000"/>
              </a:lnSpc>
              <a:buChar char="•"/>
              <a:tabLst>
                <a:tab pos="1042669" algn="l"/>
              </a:tabLst>
            </a:pPr>
            <a:r>
              <a:rPr sz="1400" dirty="0">
                <a:solidFill>
                  <a:srgbClr val="12294A"/>
                </a:solidFill>
                <a:latin typeface="Arial MT"/>
                <a:cs typeface="Arial MT"/>
              </a:rPr>
              <a:t>Penalizes</a:t>
            </a:r>
            <a:r>
              <a:rPr sz="1400" spc="-2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2294A"/>
                </a:solidFill>
                <a:latin typeface="Arial MT"/>
                <a:cs typeface="Arial MT"/>
              </a:rPr>
              <a:t>large</a:t>
            </a:r>
            <a:r>
              <a:rPr sz="1400" spc="-6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2294A"/>
                </a:solidFill>
                <a:latin typeface="Arial MT"/>
                <a:cs typeface="Arial MT"/>
              </a:rPr>
              <a:t>weights</a:t>
            </a:r>
            <a:r>
              <a:rPr sz="14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2294A"/>
                </a:solidFill>
                <a:latin typeface="Arial MT"/>
                <a:cs typeface="Arial MT"/>
              </a:rPr>
              <a:t>to</a:t>
            </a:r>
            <a:r>
              <a:rPr sz="1400" spc="-8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2294A"/>
                </a:solidFill>
                <a:latin typeface="Arial MT"/>
                <a:cs typeface="Arial MT"/>
              </a:rPr>
              <a:t>prevent</a:t>
            </a:r>
            <a:r>
              <a:rPr sz="1400" spc="-4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2294A"/>
                </a:solidFill>
                <a:latin typeface="Arial MT"/>
                <a:cs typeface="Arial MT"/>
              </a:rPr>
              <a:t>overfitting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72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Pytorch</a:t>
            </a:r>
            <a:r>
              <a:rPr spc="-85" dirty="0"/>
              <a:t> </a:t>
            </a:r>
            <a:r>
              <a:rPr dirty="0"/>
              <a:t>Overview</a:t>
            </a:r>
            <a:r>
              <a:rPr spc="-110" dirty="0"/>
              <a:t> </a:t>
            </a:r>
            <a:r>
              <a:rPr dirty="0"/>
              <a:t>–</a:t>
            </a:r>
            <a:r>
              <a:rPr spc="-190" dirty="0"/>
              <a:t> </a:t>
            </a:r>
            <a:r>
              <a:rPr dirty="0"/>
              <a:t>Training</a:t>
            </a:r>
            <a:r>
              <a:rPr spc="-130" dirty="0"/>
              <a:t> </a:t>
            </a:r>
            <a:r>
              <a:rPr spc="-10" dirty="0"/>
              <a:t>pipeline</a:t>
            </a:r>
          </a:p>
        </p:txBody>
      </p:sp>
      <p:pic>
        <p:nvPicPr>
          <p:cNvPr id="3" name="object 3" descr="A diagram of a process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2786" y="2015097"/>
            <a:ext cx="8924544" cy="290194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Electrical</a:t>
            </a:r>
            <a:r>
              <a:rPr spc="-70" dirty="0"/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dirty="0"/>
              <a:t>Computer</a:t>
            </a:r>
            <a:r>
              <a:rPr spc="20" dirty="0"/>
              <a:t> </a:t>
            </a:r>
            <a:r>
              <a:rPr dirty="0"/>
              <a:t>Engineering,</a:t>
            </a:r>
            <a:r>
              <a:rPr spc="-65" dirty="0"/>
              <a:t> </a:t>
            </a:r>
            <a:r>
              <a:rPr dirty="0"/>
              <a:t>Center</a:t>
            </a:r>
            <a:r>
              <a:rPr spc="-5" dirty="0"/>
              <a:t> </a:t>
            </a:r>
            <a:r>
              <a:rPr spc="-10" dirty="0"/>
              <a:t>for</a:t>
            </a:r>
            <a:r>
              <a:rPr spc="-80" dirty="0"/>
              <a:t> </a:t>
            </a:r>
            <a:r>
              <a:rPr spc="-10" dirty="0"/>
              <a:t>Autonomy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72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Perspective</a:t>
            </a:r>
            <a:r>
              <a:rPr spc="-114" dirty="0"/>
              <a:t> </a:t>
            </a:r>
            <a:r>
              <a:rPr spc="-10" dirty="0"/>
              <a:t>Transform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68552" y="2337816"/>
            <a:ext cx="2569845" cy="1737360"/>
            <a:chOff x="1368552" y="2337816"/>
            <a:chExt cx="2569845" cy="1737360"/>
          </a:xfrm>
        </p:grpSpPr>
        <p:pic>
          <p:nvPicPr>
            <p:cNvPr id="4" name="object 4" descr="A highway with a road sign  Description automatically generated with medium confidence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8552" y="2337816"/>
              <a:ext cx="2569464" cy="173126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34184" y="3480816"/>
              <a:ext cx="115823" cy="10058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7048" y="3974592"/>
              <a:ext cx="115823" cy="10058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99231" y="3480816"/>
              <a:ext cx="115824" cy="10058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94175" y="3974592"/>
              <a:ext cx="115824" cy="100583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4233671" y="1795272"/>
            <a:ext cx="6791325" cy="2819400"/>
            <a:chOff x="4233671" y="1795272"/>
            <a:chExt cx="6791325" cy="2819400"/>
          </a:xfrm>
        </p:grpSpPr>
        <p:pic>
          <p:nvPicPr>
            <p:cNvPr id="10" name="object 10" descr="A blurry image of a person's head  Description automatically generated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09871" y="2337816"/>
              <a:ext cx="2636520" cy="173126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33671" y="2331720"/>
              <a:ext cx="112776" cy="9753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67199" y="3980688"/>
              <a:ext cx="115824" cy="9448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76287" y="2301240"/>
              <a:ext cx="112776" cy="9753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91527" y="3992879"/>
              <a:ext cx="112775" cy="94487"/>
            </a:xfrm>
            <a:prstGeom prst="rect">
              <a:avLst/>
            </a:prstGeom>
          </p:spPr>
        </p:pic>
        <p:pic>
          <p:nvPicPr>
            <p:cNvPr id="15" name="object 15" descr="A road with lines and text  Description automatically generated with medium confidence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55151" y="1795272"/>
              <a:ext cx="2569463" cy="28194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947915" y="3163824"/>
              <a:ext cx="1507490" cy="82550"/>
            </a:xfrm>
            <a:custGeom>
              <a:avLst/>
              <a:gdLst/>
              <a:ahLst/>
              <a:cxnLst/>
              <a:rect l="l" t="t" r="r" b="b"/>
              <a:pathLst>
                <a:path w="1507490" h="82550">
                  <a:moveTo>
                    <a:pt x="1425066" y="0"/>
                  </a:moveTo>
                  <a:lnTo>
                    <a:pt x="1425066" y="82296"/>
                  </a:lnTo>
                  <a:lnTo>
                    <a:pt x="1479930" y="54863"/>
                  </a:lnTo>
                  <a:lnTo>
                    <a:pt x="1438782" y="54863"/>
                  </a:lnTo>
                  <a:lnTo>
                    <a:pt x="1438782" y="27431"/>
                  </a:lnTo>
                  <a:lnTo>
                    <a:pt x="1479930" y="27431"/>
                  </a:lnTo>
                  <a:lnTo>
                    <a:pt x="1425066" y="0"/>
                  </a:lnTo>
                  <a:close/>
                </a:path>
                <a:path w="1507490" h="82550">
                  <a:moveTo>
                    <a:pt x="1425066" y="27431"/>
                  </a:moveTo>
                  <a:lnTo>
                    <a:pt x="0" y="27431"/>
                  </a:lnTo>
                  <a:lnTo>
                    <a:pt x="0" y="54863"/>
                  </a:lnTo>
                  <a:lnTo>
                    <a:pt x="1425066" y="54863"/>
                  </a:lnTo>
                  <a:lnTo>
                    <a:pt x="1425066" y="27431"/>
                  </a:lnTo>
                  <a:close/>
                </a:path>
                <a:path w="1507490" h="82550">
                  <a:moveTo>
                    <a:pt x="1479930" y="27431"/>
                  </a:moveTo>
                  <a:lnTo>
                    <a:pt x="1438782" y="27431"/>
                  </a:lnTo>
                  <a:lnTo>
                    <a:pt x="1438782" y="54863"/>
                  </a:lnTo>
                  <a:lnTo>
                    <a:pt x="1479930" y="54863"/>
                  </a:lnTo>
                  <a:lnTo>
                    <a:pt x="1507362" y="41148"/>
                  </a:lnTo>
                  <a:lnTo>
                    <a:pt x="1479930" y="274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081022" y="1986534"/>
            <a:ext cx="1360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12294A"/>
                </a:solidFill>
                <a:latin typeface="Arial MT"/>
                <a:cs typeface="Arial MT"/>
              </a:rPr>
              <a:t>Camera</a:t>
            </a:r>
            <a:r>
              <a:rPr sz="1800" spc="-1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12294A"/>
                </a:solidFill>
                <a:latin typeface="Arial MT"/>
                <a:cs typeface="Arial MT"/>
              </a:rPr>
              <a:t>view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Electrical</a:t>
            </a:r>
            <a:r>
              <a:rPr spc="-70" dirty="0"/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dirty="0"/>
              <a:t>Computer</a:t>
            </a:r>
            <a:r>
              <a:rPr spc="20" dirty="0"/>
              <a:t> </a:t>
            </a:r>
            <a:r>
              <a:rPr dirty="0"/>
              <a:t>Engineering,</a:t>
            </a:r>
            <a:r>
              <a:rPr spc="-65" dirty="0"/>
              <a:t> </a:t>
            </a:r>
            <a:r>
              <a:rPr dirty="0"/>
              <a:t>Center</a:t>
            </a:r>
            <a:r>
              <a:rPr spc="-5" dirty="0"/>
              <a:t> </a:t>
            </a:r>
            <a:r>
              <a:rPr spc="-10" dirty="0"/>
              <a:t>for</a:t>
            </a:r>
            <a:r>
              <a:rPr spc="-80" dirty="0"/>
              <a:t> </a:t>
            </a:r>
            <a:r>
              <a:rPr spc="-10" dirty="0"/>
              <a:t>Autonomy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18" name="object 18"/>
          <p:cNvSpPr txBox="1"/>
          <p:nvPr/>
        </p:nvSpPr>
        <p:spPr>
          <a:xfrm>
            <a:off x="3910329" y="1986534"/>
            <a:ext cx="235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12294A"/>
                </a:solidFill>
                <a:latin typeface="Arial MT"/>
                <a:cs typeface="Arial MT"/>
              </a:rPr>
              <a:t>-</a:t>
            </a:r>
            <a:r>
              <a:rPr sz="1800" spc="-50" dirty="0">
                <a:solidFill>
                  <a:srgbClr val="12294A"/>
                </a:solidFill>
                <a:latin typeface="Arial MT"/>
                <a:cs typeface="Arial MT"/>
              </a:rPr>
              <a:t>&gt;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25110" y="1986534"/>
            <a:ext cx="1606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12294A"/>
                </a:solidFill>
                <a:latin typeface="Arial MT"/>
                <a:cs typeface="Arial MT"/>
              </a:rPr>
              <a:t>Bird’s</a:t>
            </a:r>
            <a:r>
              <a:rPr sz="1800" spc="-5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2294A"/>
                </a:solidFill>
                <a:latin typeface="Arial MT"/>
                <a:cs typeface="Arial MT"/>
              </a:rPr>
              <a:t>Eye</a:t>
            </a:r>
            <a:r>
              <a:rPr sz="1800" spc="-1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12294A"/>
                </a:solidFill>
                <a:latin typeface="Arial MT"/>
                <a:cs typeface="Arial MT"/>
              </a:rPr>
              <a:t>View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72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Evaluation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783" y="1676400"/>
            <a:ext cx="3375017" cy="2202526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15"/>
              </a:spcBef>
              <a:buChar char="•"/>
              <a:tabLst>
                <a:tab pos="299085" algn="l"/>
              </a:tabLst>
            </a:pPr>
            <a:r>
              <a:rPr lang="en-US" sz="1600" dirty="0">
                <a:solidFill>
                  <a:srgbClr val="12294A"/>
                </a:solidFill>
                <a:latin typeface="Arial MT"/>
                <a:cs typeface="Arial MT"/>
              </a:rPr>
              <a:t>Cross-track error (XTE) measures the deviation of your camera origin from the true center of the lane</a:t>
            </a:r>
          </a:p>
          <a:p>
            <a:pPr marL="299085" indent="-286385">
              <a:lnSpc>
                <a:spcPct val="100000"/>
              </a:lnSpc>
              <a:spcBef>
                <a:spcPts val="915"/>
              </a:spcBef>
              <a:buChar char="•"/>
              <a:tabLst>
                <a:tab pos="299085" algn="l"/>
              </a:tabLst>
            </a:pPr>
            <a:r>
              <a:rPr lang="en-US" sz="1600" dirty="0">
                <a:solidFill>
                  <a:srgbClr val="12294A"/>
                </a:solidFill>
                <a:latin typeface="Arial MT"/>
                <a:cs typeface="Arial MT"/>
              </a:rPr>
              <a:t>Heading error (HE) measures the deviation in your vehicle’s heading angle and the lane’s direction</a:t>
            </a:r>
            <a:endParaRPr sz="1600" dirty="0">
              <a:latin typeface="Arial MT"/>
              <a:cs typeface="Arial MT"/>
            </a:endParaRPr>
          </a:p>
        </p:txBody>
      </p:sp>
      <p:pic>
        <p:nvPicPr>
          <p:cNvPr id="5" name="object 5" descr="A yellow car on a road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1828800"/>
            <a:ext cx="2255519" cy="3136392"/>
          </a:xfrm>
          <a:prstGeom prst="rect">
            <a:avLst/>
          </a:prstGeom>
        </p:spPr>
      </p:pic>
      <p:pic>
        <p:nvPicPr>
          <p:cNvPr id="6" name="object 6" descr="A computer screen shot of a field  Description automatically generated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33833" y="1811867"/>
            <a:ext cx="2529840" cy="313639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Electrical</a:t>
            </a:r>
            <a:r>
              <a:rPr spc="-70" dirty="0"/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dirty="0"/>
              <a:t>Computer</a:t>
            </a:r>
            <a:r>
              <a:rPr spc="20" dirty="0"/>
              <a:t> </a:t>
            </a:r>
            <a:r>
              <a:rPr dirty="0"/>
              <a:t>Engineering,</a:t>
            </a:r>
            <a:r>
              <a:rPr spc="-65" dirty="0"/>
              <a:t> </a:t>
            </a:r>
            <a:r>
              <a:rPr dirty="0"/>
              <a:t>Center</a:t>
            </a:r>
            <a:r>
              <a:rPr spc="-5" dirty="0"/>
              <a:t> </a:t>
            </a:r>
            <a:r>
              <a:rPr spc="-10" dirty="0"/>
              <a:t>for</a:t>
            </a:r>
            <a:r>
              <a:rPr spc="-80" dirty="0"/>
              <a:t> </a:t>
            </a:r>
            <a:r>
              <a:rPr spc="-10" dirty="0"/>
              <a:t>Autonomy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72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Grading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Electrical</a:t>
            </a:r>
            <a:r>
              <a:rPr spc="-70" dirty="0"/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dirty="0"/>
              <a:t>Computer</a:t>
            </a:r>
            <a:r>
              <a:rPr spc="20" dirty="0"/>
              <a:t> </a:t>
            </a:r>
            <a:r>
              <a:rPr dirty="0"/>
              <a:t>Engineering,</a:t>
            </a:r>
            <a:r>
              <a:rPr spc="-65" dirty="0"/>
              <a:t> </a:t>
            </a:r>
            <a:r>
              <a:rPr dirty="0"/>
              <a:t>Center</a:t>
            </a:r>
            <a:r>
              <a:rPr spc="-5" dirty="0"/>
              <a:t> </a:t>
            </a:r>
            <a:r>
              <a:rPr spc="-10" dirty="0"/>
              <a:t>for</a:t>
            </a:r>
            <a:r>
              <a:rPr spc="-80" dirty="0"/>
              <a:t> </a:t>
            </a:r>
            <a:r>
              <a:rPr spc="-10" dirty="0"/>
              <a:t>Autonomy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31316" y="1927351"/>
            <a:ext cx="6202884" cy="43685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05"/>
              </a:spcBef>
              <a:buChar char="•"/>
              <a:tabLst>
                <a:tab pos="356870" algn="l"/>
              </a:tabLst>
            </a:pP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HW1</a:t>
            </a:r>
            <a:r>
              <a:rPr sz="2200" spc="-11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12294A"/>
                </a:solidFill>
                <a:latin typeface="Arial MT"/>
                <a:cs typeface="Arial MT"/>
              </a:rPr>
              <a:t>(1</a:t>
            </a:r>
            <a:r>
              <a:rPr lang="en-US" sz="2200" spc="-10" dirty="0">
                <a:solidFill>
                  <a:srgbClr val="12294A"/>
                </a:solidFill>
                <a:latin typeface="Arial MT"/>
                <a:cs typeface="Arial MT"/>
              </a:rPr>
              <a:t>00</a:t>
            </a:r>
            <a:r>
              <a:rPr sz="2200" spc="-2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pts)</a:t>
            </a:r>
            <a:r>
              <a:rPr sz="2200" spc="-3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lang="en-US" sz="2200" dirty="0">
                <a:solidFill>
                  <a:srgbClr val="12294A"/>
                </a:solidFill>
                <a:latin typeface="Arial MT"/>
                <a:cs typeface="Arial MT"/>
              </a:rPr>
              <a:t>–</a:t>
            </a: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b="1" i="1" spc="-10" dirty="0">
                <a:solidFill>
                  <a:srgbClr val="12294A"/>
                </a:solidFill>
                <a:latin typeface="Arial"/>
                <a:cs typeface="Arial"/>
              </a:rPr>
              <a:t>Individual</a:t>
            </a:r>
            <a:endParaRPr lang="en-US" sz="2200" b="1" i="1" spc="-10" dirty="0">
              <a:solidFill>
                <a:srgbClr val="12294A"/>
              </a:solidFill>
              <a:latin typeface="Arial"/>
              <a:cs typeface="Arial"/>
            </a:endParaRPr>
          </a:p>
          <a:p>
            <a:pPr marL="356870" indent="-344170">
              <a:lnSpc>
                <a:spcPct val="100000"/>
              </a:lnSpc>
              <a:spcBef>
                <a:spcPts val="105"/>
              </a:spcBef>
              <a:buChar char="•"/>
              <a:tabLst>
                <a:tab pos="356870" algn="l"/>
              </a:tabLst>
            </a:pPr>
            <a:r>
              <a:rPr lang="en-US" sz="2200" spc="-10" dirty="0">
                <a:solidFill>
                  <a:srgbClr val="12294A"/>
                </a:solidFill>
                <a:latin typeface="Arial"/>
                <a:cs typeface="Arial"/>
              </a:rPr>
              <a:t>Specific point breakdown in documentation</a:t>
            </a:r>
          </a:p>
          <a:p>
            <a:pPr marL="356870" indent="-344170">
              <a:lnSpc>
                <a:spcPct val="100000"/>
              </a:lnSpc>
              <a:spcBef>
                <a:spcPts val="105"/>
              </a:spcBef>
              <a:buChar char="•"/>
              <a:tabLst>
                <a:tab pos="356870" algn="l"/>
              </a:tabLst>
            </a:pPr>
            <a:r>
              <a:rPr lang="en-US" sz="2200" spc="-10" dirty="0">
                <a:solidFill>
                  <a:srgbClr val="12294A"/>
                </a:solidFill>
                <a:latin typeface="Arial"/>
                <a:cs typeface="Arial"/>
              </a:rPr>
              <a:t>Upload to Gradescope with name and NetID in pdf</a:t>
            </a:r>
            <a:endParaRPr sz="2200" dirty="0">
              <a:latin typeface="Arial"/>
              <a:cs typeface="Arial"/>
            </a:endParaRPr>
          </a:p>
          <a:p>
            <a:pPr marL="356870" indent="-344170">
              <a:lnSpc>
                <a:spcPct val="100000"/>
              </a:lnSpc>
              <a:spcBef>
                <a:spcPts val="2305"/>
              </a:spcBef>
              <a:buChar char="•"/>
              <a:tabLst>
                <a:tab pos="356870" algn="l"/>
              </a:tabLst>
            </a:pPr>
            <a:r>
              <a:rPr sz="2200" dirty="0">
                <a:solidFill>
                  <a:srgbClr val="12294A"/>
                </a:solidFill>
                <a:latin typeface="Arial MT"/>
                <a:cs typeface="Arial MT"/>
              </a:rPr>
              <a:t>MP1 (100pts)</a:t>
            </a:r>
            <a:r>
              <a:rPr sz="2200" spc="-2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lang="en-US" sz="2200" dirty="0">
                <a:solidFill>
                  <a:srgbClr val="12294A"/>
                </a:solidFill>
                <a:latin typeface="Arial MT"/>
                <a:cs typeface="Arial MT"/>
              </a:rPr>
              <a:t>–</a:t>
            </a:r>
            <a:r>
              <a:rPr sz="2200" spc="-3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sz="2200" b="1" i="1" spc="-10" dirty="0">
                <a:solidFill>
                  <a:srgbClr val="12294A"/>
                </a:solidFill>
                <a:latin typeface="Arial"/>
                <a:cs typeface="Arial"/>
              </a:rPr>
              <a:t>Group</a:t>
            </a:r>
            <a:endParaRPr lang="en-US" sz="2200" b="1" i="1" spc="-10" dirty="0">
              <a:solidFill>
                <a:srgbClr val="12294A"/>
              </a:solidFill>
              <a:latin typeface="Arial"/>
              <a:cs typeface="Arial"/>
            </a:endParaRPr>
          </a:p>
          <a:p>
            <a:pPr marL="1042669" indent="-344170">
              <a:spcBef>
                <a:spcPts val="1830"/>
              </a:spcBef>
              <a:buChar char="•"/>
              <a:tabLst>
                <a:tab pos="1042669" algn="l"/>
              </a:tabLst>
            </a:pPr>
            <a:r>
              <a:rPr lang="en-US" sz="2200" dirty="0">
                <a:solidFill>
                  <a:srgbClr val="12294A"/>
                </a:solidFill>
                <a:latin typeface="Arial MT"/>
                <a:cs typeface="Arial MT"/>
              </a:rPr>
              <a:t>Report</a:t>
            </a:r>
            <a:r>
              <a:rPr lang="en-US" sz="2200" spc="-1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lang="en-US" sz="2200" dirty="0">
                <a:solidFill>
                  <a:srgbClr val="12294A"/>
                </a:solidFill>
                <a:latin typeface="Arial MT"/>
                <a:cs typeface="Arial MT"/>
              </a:rPr>
              <a:t>80</a:t>
            </a:r>
            <a:r>
              <a:rPr lang="en-US" sz="2200" spc="-15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lang="en-US" sz="2200" spc="-25" dirty="0">
                <a:solidFill>
                  <a:srgbClr val="12294A"/>
                </a:solidFill>
                <a:latin typeface="Arial MT"/>
                <a:cs typeface="Arial MT"/>
              </a:rPr>
              <a:t>pts</a:t>
            </a:r>
            <a:endParaRPr lang="en-US" sz="2200" dirty="0">
              <a:latin typeface="Arial MT"/>
              <a:cs typeface="Arial MT"/>
            </a:endParaRPr>
          </a:p>
          <a:p>
            <a:pPr marL="1042669" indent="-344170">
              <a:spcBef>
                <a:spcPts val="1825"/>
              </a:spcBef>
              <a:buChar char="•"/>
              <a:tabLst>
                <a:tab pos="1042669" algn="l"/>
              </a:tabLst>
            </a:pPr>
            <a:r>
              <a:rPr lang="en-US" sz="2200" dirty="0">
                <a:solidFill>
                  <a:srgbClr val="12294A"/>
                </a:solidFill>
                <a:latin typeface="Arial MT"/>
                <a:cs typeface="Arial MT"/>
              </a:rPr>
              <a:t>Demo</a:t>
            </a:r>
            <a:r>
              <a:rPr lang="en-US" sz="2200" spc="-40" dirty="0">
                <a:solidFill>
                  <a:srgbClr val="12294A"/>
                </a:solidFill>
                <a:latin typeface="Arial MT"/>
                <a:cs typeface="Arial MT"/>
              </a:rPr>
              <a:t> (9/25) </a:t>
            </a:r>
            <a:r>
              <a:rPr lang="en-US" sz="2200" dirty="0">
                <a:solidFill>
                  <a:srgbClr val="12294A"/>
                </a:solidFill>
                <a:latin typeface="Arial MT"/>
                <a:cs typeface="Arial MT"/>
              </a:rPr>
              <a:t>20</a:t>
            </a:r>
            <a:r>
              <a:rPr lang="en-US" sz="2200" spc="-10" dirty="0">
                <a:solidFill>
                  <a:srgbClr val="12294A"/>
                </a:solidFill>
                <a:latin typeface="Arial MT"/>
                <a:cs typeface="Arial MT"/>
              </a:rPr>
              <a:t> </a:t>
            </a:r>
            <a:r>
              <a:rPr lang="en-US" sz="2200" spc="-25" dirty="0">
                <a:solidFill>
                  <a:srgbClr val="12294A"/>
                </a:solidFill>
                <a:latin typeface="Arial MT"/>
                <a:cs typeface="Arial MT"/>
              </a:rPr>
              <a:t>pts</a:t>
            </a:r>
            <a:endParaRPr lang="en-US" sz="2200" b="1" i="1" spc="-10" dirty="0">
              <a:solidFill>
                <a:srgbClr val="12294A"/>
              </a:solidFill>
              <a:latin typeface="Arial"/>
              <a:cs typeface="Arial"/>
            </a:endParaRPr>
          </a:p>
          <a:p>
            <a:pPr marL="356870" indent="-344170">
              <a:lnSpc>
                <a:spcPct val="100000"/>
              </a:lnSpc>
              <a:spcBef>
                <a:spcPts val="2305"/>
              </a:spcBef>
              <a:buChar char="•"/>
              <a:tabLst>
                <a:tab pos="356870" algn="l"/>
              </a:tabLst>
            </a:pPr>
            <a:r>
              <a:rPr lang="en-US" sz="2200" spc="-10" dirty="0">
                <a:solidFill>
                  <a:srgbClr val="12294A"/>
                </a:solidFill>
                <a:latin typeface="Arial"/>
                <a:cs typeface="Arial"/>
              </a:rPr>
              <a:t>Upload code to GitHub repo</a:t>
            </a:r>
            <a:endParaRPr sz="2200" dirty="0">
              <a:latin typeface="Arial"/>
              <a:cs typeface="Arial"/>
            </a:endParaRPr>
          </a:p>
          <a:p>
            <a:pPr marL="1042669" lvl="2" indent="-344170">
              <a:spcBef>
                <a:spcPts val="1825"/>
              </a:spcBef>
              <a:buChar char="•"/>
              <a:tabLst>
                <a:tab pos="1042669" algn="l"/>
              </a:tabLst>
            </a:pPr>
            <a:endParaRPr lang="en-US" sz="2200" spc="-25" dirty="0">
              <a:solidFill>
                <a:srgbClr val="12294A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72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Logistics</a:t>
            </a:r>
            <a:r>
              <a:rPr spc="-105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spc="-10" dirty="0"/>
              <a:t>Reminders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Electrical</a:t>
            </a:r>
            <a:r>
              <a:rPr spc="-70" dirty="0"/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dirty="0"/>
              <a:t>Computer</a:t>
            </a:r>
            <a:r>
              <a:rPr spc="20" dirty="0"/>
              <a:t> </a:t>
            </a:r>
            <a:r>
              <a:rPr dirty="0"/>
              <a:t>Engineering,</a:t>
            </a:r>
            <a:r>
              <a:rPr spc="-65" dirty="0"/>
              <a:t> </a:t>
            </a:r>
            <a:r>
              <a:rPr dirty="0"/>
              <a:t>Center</a:t>
            </a:r>
            <a:r>
              <a:rPr spc="-5" dirty="0"/>
              <a:t> </a:t>
            </a:r>
            <a:r>
              <a:rPr spc="-10" dirty="0"/>
              <a:t>for</a:t>
            </a:r>
            <a:r>
              <a:rPr spc="-80" dirty="0"/>
              <a:t> </a:t>
            </a:r>
            <a:r>
              <a:rPr spc="-10" dirty="0"/>
              <a:t>Autonomy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33145" y="1600200"/>
            <a:ext cx="8717484" cy="461216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865"/>
              </a:spcBef>
              <a:buChar char="•"/>
              <a:tabLst>
                <a:tab pos="356870" algn="l"/>
              </a:tabLst>
            </a:pPr>
            <a:r>
              <a:rPr lang="en-US" dirty="0"/>
              <a:t>Submit your group forms and include GitHub usernames</a:t>
            </a:r>
          </a:p>
          <a:p>
            <a:pPr marL="814070" lvl="1" indent="-344170">
              <a:spcBef>
                <a:spcPts val="865"/>
              </a:spcBef>
              <a:buChar char="•"/>
              <a:tabLst>
                <a:tab pos="356870" algn="l"/>
              </a:tabLst>
            </a:pPr>
            <a:r>
              <a:rPr lang="en-US" sz="2000" dirty="0">
                <a:latin typeface="Arial MT"/>
              </a:rPr>
              <a:t>Submit even if not sure yet so we can connect usernames to email</a:t>
            </a:r>
          </a:p>
          <a:p>
            <a:pPr marL="356870" indent="-344170">
              <a:lnSpc>
                <a:spcPct val="100000"/>
              </a:lnSpc>
              <a:spcBef>
                <a:spcPts val="865"/>
              </a:spcBef>
              <a:buChar char="•"/>
              <a:tabLst>
                <a:tab pos="356870" algn="l"/>
              </a:tabLst>
            </a:pPr>
            <a:r>
              <a:rPr lang="en-US" spc="-25" dirty="0"/>
              <a:t>Make sure you check your email and accept invitation to join GitHub organization</a:t>
            </a:r>
          </a:p>
          <a:p>
            <a:pPr marL="356870" indent="-344170">
              <a:lnSpc>
                <a:spcPct val="100000"/>
              </a:lnSpc>
              <a:spcBef>
                <a:spcPts val="865"/>
              </a:spcBef>
              <a:buChar char="•"/>
              <a:tabLst>
                <a:tab pos="356870" algn="l"/>
              </a:tabLst>
            </a:pPr>
            <a:endParaRPr lang="en-US" spc="-25" dirty="0"/>
          </a:p>
          <a:p>
            <a:pPr marL="356870" indent="-344170">
              <a:lnSpc>
                <a:spcPct val="100000"/>
              </a:lnSpc>
              <a:spcBef>
                <a:spcPts val="865"/>
              </a:spcBef>
              <a:buChar char="•"/>
              <a:tabLst>
                <a:tab pos="356870" algn="l"/>
              </a:tabLst>
            </a:pPr>
            <a:r>
              <a:rPr lang="en-US" spc="-25" dirty="0"/>
              <a:t>MP0 code will be submitted through GradeScope</a:t>
            </a:r>
            <a:endParaRPr spc="-25" dirty="0"/>
          </a:p>
          <a:p>
            <a:pPr marL="356870" indent="-344170">
              <a:lnSpc>
                <a:spcPct val="100000"/>
              </a:lnSpc>
              <a:spcBef>
                <a:spcPts val="770"/>
              </a:spcBef>
              <a:buChar char="•"/>
              <a:tabLst>
                <a:tab pos="356870" algn="l"/>
              </a:tabLst>
            </a:pPr>
            <a:r>
              <a:rPr dirty="0"/>
              <a:t>MP0</a:t>
            </a:r>
            <a:r>
              <a:rPr spc="-55" dirty="0"/>
              <a:t> </a:t>
            </a:r>
            <a:r>
              <a:rPr dirty="0"/>
              <a:t>demo</a:t>
            </a:r>
            <a:r>
              <a:rPr spc="-70" dirty="0"/>
              <a:t> </a:t>
            </a:r>
            <a:r>
              <a:rPr dirty="0"/>
              <a:t>will</a:t>
            </a:r>
            <a:r>
              <a:rPr spc="-10" dirty="0"/>
              <a:t> </a:t>
            </a:r>
            <a:r>
              <a:rPr dirty="0"/>
              <a:t>be</a:t>
            </a:r>
            <a:r>
              <a:rPr spc="-55" dirty="0"/>
              <a:t> </a:t>
            </a:r>
            <a:r>
              <a:rPr dirty="0"/>
              <a:t>in</a:t>
            </a:r>
            <a:r>
              <a:rPr spc="-55" dirty="0"/>
              <a:t> </a:t>
            </a:r>
            <a:r>
              <a:rPr dirty="0"/>
              <a:t>next</a:t>
            </a:r>
            <a:r>
              <a:rPr spc="-65" dirty="0"/>
              <a:t> </a:t>
            </a:r>
            <a:r>
              <a:rPr dirty="0"/>
              <a:t>lab</a:t>
            </a:r>
            <a:r>
              <a:rPr spc="-55" dirty="0"/>
              <a:t> </a:t>
            </a:r>
            <a:r>
              <a:rPr dirty="0"/>
              <a:t>session</a:t>
            </a:r>
            <a:r>
              <a:rPr lang="en-US" dirty="0"/>
              <a:t>, September 11th</a:t>
            </a:r>
            <a:endParaRPr spc="-25" dirty="0"/>
          </a:p>
          <a:p>
            <a:pPr marL="1042669" lvl="1" indent="-344170">
              <a:lnSpc>
                <a:spcPct val="100000"/>
              </a:lnSpc>
              <a:spcBef>
                <a:spcPts val="265"/>
              </a:spcBef>
              <a:buChar char="•"/>
              <a:tabLst>
                <a:tab pos="1042669" algn="l"/>
              </a:tabLst>
            </a:pPr>
            <a:r>
              <a:rPr sz="2000" dirty="0">
                <a:latin typeface="Arial MT"/>
                <a:cs typeface="Arial MT"/>
              </a:rPr>
              <a:t>Individual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questions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will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asked</a:t>
            </a:r>
            <a:endParaRPr lang="en-US" sz="2000" spc="-10" dirty="0">
              <a:latin typeface="Arial MT"/>
              <a:cs typeface="Arial MT"/>
            </a:endParaRPr>
          </a:p>
          <a:p>
            <a:pPr marL="1042669" lvl="1" indent="-344170">
              <a:lnSpc>
                <a:spcPct val="100000"/>
              </a:lnSpc>
              <a:spcBef>
                <a:spcPts val="265"/>
              </a:spcBef>
              <a:buChar char="•"/>
              <a:tabLst>
                <a:tab pos="1042669" algn="l"/>
              </a:tabLst>
            </a:pPr>
            <a:endParaRPr sz="2000" dirty="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spcBef>
                <a:spcPts val="745"/>
              </a:spcBef>
              <a:buChar char="•"/>
              <a:tabLst>
                <a:tab pos="356870" algn="l"/>
              </a:tabLst>
            </a:pPr>
            <a:r>
              <a:rPr dirty="0"/>
              <a:t>MP1</a:t>
            </a:r>
            <a:r>
              <a:rPr spc="-4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HW1</a:t>
            </a:r>
            <a:r>
              <a:rPr spc="-100" dirty="0"/>
              <a:t> </a:t>
            </a:r>
            <a:r>
              <a:rPr dirty="0"/>
              <a:t>will</a:t>
            </a:r>
            <a:r>
              <a:rPr spc="5" dirty="0"/>
              <a:t> </a:t>
            </a:r>
            <a:r>
              <a:rPr dirty="0"/>
              <a:t>be</a:t>
            </a:r>
            <a:r>
              <a:rPr spc="-45" dirty="0"/>
              <a:t> </a:t>
            </a:r>
            <a:r>
              <a:rPr dirty="0"/>
              <a:t>due</a:t>
            </a:r>
            <a:r>
              <a:rPr spc="-40" dirty="0"/>
              <a:t> </a:t>
            </a:r>
            <a:r>
              <a:rPr dirty="0"/>
              <a:t>on</a:t>
            </a:r>
            <a:r>
              <a:rPr spc="-60" dirty="0"/>
              <a:t> </a:t>
            </a:r>
            <a:r>
              <a:rPr lang="en-US" dirty="0"/>
              <a:t>September 25th</a:t>
            </a:r>
            <a:endParaRPr spc="-20" dirty="0"/>
          </a:p>
          <a:p>
            <a:pPr marL="1042669" lvl="1" indent="-344170">
              <a:lnSpc>
                <a:spcPct val="100000"/>
              </a:lnSpc>
              <a:spcBef>
                <a:spcPts val="265"/>
              </a:spcBef>
              <a:buChar char="•"/>
              <a:tabLst>
                <a:tab pos="1042669" algn="l"/>
              </a:tabLst>
            </a:pPr>
            <a:r>
              <a:rPr sz="2000" dirty="0">
                <a:latin typeface="Arial MT"/>
                <a:cs typeface="Arial MT"/>
              </a:rPr>
              <a:t>Start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early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get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stuck</a:t>
            </a:r>
            <a:endParaRPr sz="2000" dirty="0">
              <a:latin typeface="Arial MT"/>
              <a:cs typeface="Arial MT"/>
            </a:endParaRPr>
          </a:p>
          <a:p>
            <a:pPr marL="1042669" lvl="1" indent="-344170">
              <a:lnSpc>
                <a:spcPct val="100000"/>
              </a:lnSpc>
              <a:spcBef>
                <a:spcPts val="265"/>
              </a:spcBef>
              <a:buChar char="•"/>
              <a:tabLst>
                <a:tab pos="1042669" algn="l"/>
              </a:tabLst>
            </a:pPr>
            <a:r>
              <a:rPr sz="2000" dirty="0">
                <a:latin typeface="Arial MT"/>
                <a:cs typeface="Arial MT"/>
              </a:rPr>
              <a:t>Lab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space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may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limited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outside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class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47" y="0"/>
            <a:ext cx="12189460" cy="6858000"/>
            <a:chOff x="3047" y="0"/>
            <a:chExt cx="1218946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7" y="0"/>
              <a:ext cx="12188952" cy="6857998"/>
            </a:xfrm>
            <a:prstGeom prst="rect">
              <a:avLst/>
            </a:prstGeom>
          </p:spPr>
        </p:pic>
        <p:pic>
          <p:nvPicPr>
            <p:cNvPr id="4" name="object 4" descr="A picture containing text, clipart  Description automatically generated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09543" y="2682239"/>
              <a:ext cx="5772911" cy="149351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Words>657</Words>
  <Application>Microsoft Office PowerPoint</Application>
  <PresentationFormat>Widescreen</PresentationFormat>
  <Paragraphs>117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Arial MT</vt:lpstr>
      <vt:lpstr>Calibri</vt:lpstr>
      <vt:lpstr>Cambria</vt:lpstr>
      <vt:lpstr>Consolas</vt:lpstr>
      <vt:lpstr>Office Theme</vt:lpstr>
      <vt:lpstr>ECE 484 FA26 MP1 Walkthrough Deep Learning for Lane Detection</vt:lpstr>
      <vt:lpstr>Brief Overview</vt:lpstr>
      <vt:lpstr>Gazebo – Open-source Robotics Simulator</vt:lpstr>
      <vt:lpstr>RVIZ – ROS visualizer</vt:lpstr>
      <vt:lpstr>System Overview</vt:lpstr>
      <vt:lpstr>Tasks</vt:lpstr>
      <vt:lpstr>Dataset Preparation</vt:lpstr>
      <vt:lpstr>Build InitialBlock in Simple ENet</vt:lpstr>
      <vt:lpstr>Pytorch Overview - Optimizer</vt:lpstr>
      <vt:lpstr>Pytorch Overview – Training pipeline</vt:lpstr>
      <vt:lpstr>Perspective Transform</vt:lpstr>
      <vt:lpstr>Evaluation</vt:lpstr>
      <vt:lpstr>Grading</vt:lpstr>
      <vt:lpstr>Logistics and Reminders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Ji, Eric</cp:lastModifiedBy>
  <cp:revision>1</cp:revision>
  <dcterms:created xsi:type="dcterms:W3CDTF">2026-09-03T21:36:00Z</dcterms:created>
  <dcterms:modified xsi:type="dcterms:W3CDTF">2026-09-04T08:45:57Z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2026-02-01T00:00:00Z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2026-09-03T00:00:00Z</vt:filetime>
  </property>
  <property fmtid="{D5CDD505-2E9C-101B-9397-08002B2CF9AE}" pid="6" name="Producer">
    <vt:lpwstr>www.ilovepdf.com</vt:lpwstr>
  </property>
</Properties>
</file>